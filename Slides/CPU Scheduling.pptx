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bin" ContentType="application/vnd.openxmlformats-officedocument.oleObject"/>
  <Default Extension="png" ContentType="image/png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type="screen4x3" cy="6858000" cx="9144000"/>
  <p:notesSz cx="7086600" cy="93726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Verdana" pitchFamily="34" charset="0"/>
        <a:ea typeface="MS PGothic" pitchFamily="34" charset="-128"/>
        <a:sym typeface="Verdana" pitchFamily="34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restored" preferSingleView="0">
    <p:restoredLeft sz="14271" autoAdjust="0"/>
    <p:restoredTop sz="94660"/>
  </p:normalViewPr>
  <p:slideViewPr>
    <p:cSldViewPr showGuides="0" snapToGrid="0" snapToObjects="0">
      <p:cViewPr varScale="1">
        <p:scale>
          <a:sx n="66" d="100"/>
          <a:sy n="66" d="100"/>
        </p:scale>
        <p:origin x="0" y="0"/>
      </p:cViewPr>
      <p:guideLst/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tableStyles" Target="tableStyle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4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2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9" name="Rectangle 2"/>
          <p:cNvSpPr/>
          <p:nvPr>
            <p:ph type="hdr" sz="quarter" idx="0"/>
          </p:nvPr>
        </p:nvSpPr>
        <p:spPr>
          <a:xfrm rot="0">
            <a:off x="0" y="0"/>
            <a:ext cx="3106737" cy="446087"/>
          </a:xfrm>
          <a:prstGeom prst="rect"/>
          <a:noFill/>
          <a:ln>
            <a:noFill/>
          </a:ln>
        </p:spPr>
        <p:txBody>
          <a:bodyPr anchor="ctr" bIns="44546" lIns="89090" rIns="89090" tIns="44546" vert="horz" wrap="none"/>
          <a:p>
            <a:pPr lvl="0"/>
            <a:endParaRPr altLang="en-US" sz="1100" lang="en-US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1048910" name="Rectangle 3"/>
          <p:cNvSpPr/>
          <p:nvPr>
            <p:ph type="dt" sz="quarter" idx="1"/>
          </p:nvPr>
        </p:nvSpPr>
        <p:spPr>
          <a:xfrm rot="0">
            <a:off x="3994150" y="0"/>
            <a:ext cx="3105150" cy="446087"/>
          </a:xfrm>
          <a:prstGeom prst="rect"/>
          <a:noFill/>
          <a:ln>
            <a:noFill/>
          </a:ln>
        </p:spPr>
        <p:txBody>
          <a:bodyPr anchor="ctr" bIns="44546" lIns="89090" rIns="89090" tIns="44546" vert="horz" wrap="none"/>
          <a:p>
            <a:pPr algn="r" lvl="0"/>
            <a:endParaRPr altLang="en-US" sz="1100" lang="en-US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1048911" name="Rectangle 4"/>
          <p:cNvSpPr/>
          <p:nvPr>
            <p:ph type="ftr" sz="quarter" idx="2"/>
          </p:nvPr>
        </p:nvSpPr>
        <p:spPr>
          <a:xfrm rot="0">
            <a:off x="0" y="8939212"/>
            <a:ext cx="3106737" cy="446087"/>
          </a:xfrm>
          <a:prstGeom prst="rect"/>
          <a:noFill/>
          <a:ln>
            <a:noFill/>
          </a:ln>
        </p:spPr>
        <p:txBody>
          <a:bodyPr anchor="b" bIns="44546" lIns="89090" rIns="89090" tIns="44546" vert="horz" wrap="none"/>
          <a:p>
            <a:pPr lvl="0"/>
            <a:endParaRPr altLang="en-US" sz="1100" lang="en-US">
              <a:latin typeface="Helvetica" pitchFamily="-84" charset="0"/>
              <a:ea typeface="MS PGothic" pitchFamily="34" charset="-128"/>
            </a:endParaRPr>
          </a:p>
        </p:txBody>
      </p:sp>
      <p:sp>
        <p:nvSpPr>
          <p:cNvPr id="1048912" name="Rectangle 5"/>
          <p:cNvSpPr/>
          <p:nvPr>
            <p:ph type="sldNum" sz="quarter" idx="3"/>
          </p:nvPr>
        </p:nvSpPr>
        <p:spPr>
          <a:xfrm rot="0">
            <a:off x="3994150" y="8939212"/>
            <a:ext cx="3105150" cy="446087"/>
          </a:xfrm>
          <a:prstGeom prst="rect"/>
          <a:noFill/>
          <a:ln>
            <a:noFill/>
          </a:ln>
        </p:spPr>
        <p:txBody>
          <a:bodyPr anchor="b" bIns="44546" lIns="89090" rIns="89090" tIns="44546" vert="horz" wrap="none"/>
          <a:p>
            <a:pPr algn="r" lvl="0"/>
            <a:fld id="{566ABCEB-ACFC-4714-9973-3DA970169C29}" type="slidenum">
              <a:rPr altLang="en-US" sz="1100" lang="en-US">
                <a:latin typeface="Helvetica" pitchFamily="-84" charset="0"/>
              </a:rPr>
              <a:pPr algn="r" lvl="0"/>
            </a:fld>
            <a:endParaRPr altLang="en-US" sz="1100" lang="en-US">
              <a:latin typeface="Helvetica" pitchFamily="-84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3" name="Rectangle 2"/>
          <p:cNvSpPr/>
          <p:nvPr>
            <p:ph type="hdr" sz="quarter" idx="0"/>
          </p:nvPr>
        </p:nvSpPr>
        <p:spPr>
          <a:xfrm rot="0">
            <a:off x="0" y="0"/>
            <a:ext cx="3070225" cy="466725"/>
          </a:xfrm>
          <a:prstGeom prst="rect"/>
          <a:noFill/>
          <a:ln>
            <a:noFill/>
          </a:ln>
        </p:spPr>
        <p:txBody>
          <a:bodyPr anchor="ctr" bIns="47017" lIns="94035" rIns="94035" tIns="47017" vert="horz" wrap="none"/>
          <a:p>
            <a:pPr lvl="0"/>
            <a:endParaRPr altLang="en-US" sz="1200" lang="en-US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048904" name="Rectangle 3"/>
          <p:cNvSpPr/>
          <p:nvPr>
            <p:ph type="dt" sz="full" idx="1"/>
          </p:nvPr>
        </p:nvSpPr>
        <p:spPr>
          <a:xfrm rot="0">
            <a:off x="4016375" y="0"/>
            <a:ext cx="3070225" cy="466725"/>
          </a:xfrm>
          <a:prstGeom prst="rect"/>
          <a:noFill/>
          <a:ln>
            <a:noFill/>
          </a:ln>
        </p:spPr>
        <p:txBody>
          <a:bodyPr anchor="ctr" bIns="47017" lIns="94035" rIns="94035" tIns="47017" vert="horz" wrap="none"/>
          <a:p>
            <a:pPr algn="r" lvl="0"/>
            <a:endParaRPr altLang="en-US" sz="1200" lang="en-US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048905" name="Rectangle 4"/>
          <p:cNvSpPr/>
          <p:nvPr>
            <p:ph type="sldImg" sz="full" idx="2"/>
          </p:nvPr>
        </p:nvSpPr>
        <p:spPr>
          <a:xfrm rot="0">
            <a:off x="1200150" y="704850"/>
            <a:ext cx="4687887" cy="3514725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6511" lIns="93022" rIns="93022" tIns="46511" vert="horz" wrap="none"/>
          <a:p/>
        </p:txBody>
      </p:sp>
      <p:sp>
        <p:nvSpPr>
          <p:cNvPr id="1048906" name="Rectangle 5"/>
          <p:cNvSpPr/>
          <p:nvPr>
            <p:ph type="body" sz="quarter" idx="3"/>
          </p:nvPr>
        </p:nvSpPr>
        <p:spPr>
          <a:xfrm rot="0">
            <a:off x="944562" y="4452937"/>
            <a:ext cx="5197475" cy="4214812"/>
          </a:xfrm>
          <a:prstGeom prst="rect"/>
          <a:noFill/>
          <a:ln>
            <a:noFill/>
          </a:ln>
        </p:spPr>
        <p:txBody>
          <a:bodyPr anchor="ctr" bIns="47017" lIns="94035" rIns="94035" tIns="47017" vert="horz" wrap="none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907" name="Rectangle 6"/>
          <p:cNvSpPr/>
          <p:nvPr>
            <p:ph type="ftr" sz="quarter" idx="4"/>
          </p:nvPr>
        </p:nvSpPr>
        <p:spPr>
          <a:xfrm rot="0">
            <a:off x="0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lvl="0"/>
            <a:endParaRPr altLang="en-US" sz="1200" lang="en-US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048908" name="Rectangle 7"/>
          <p:cNvSpPr/>
          <p:nvPr>
            <p:ph type="sldNum" sz="quarter" idx="5"/>
          </p:nvPr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Times New Roman" pitchFamily="18" charset="0"/>
        <a:ea typeface="MS PGothic" pitchFamily="34" charset="-128"/>
        <a:sym typeface="Verdana" pitchFamily="34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5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596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597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1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12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13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6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17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18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1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22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23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6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27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28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1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32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33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6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37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38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1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42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43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6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47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48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1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52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53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6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57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58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1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62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63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5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66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67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0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71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72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5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76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77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0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81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82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5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86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87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0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91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92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5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696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697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9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700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701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4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705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706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9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710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711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3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714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715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8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719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720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3" name="Rectangle 7"/>
          <p:cNvSpPr txBox="1"/>
          <p:nvPr/>
        </p:nvSpPr>
        <p:spPr>
          <a:xfrm rot="0">
            <a:off x="4016375" y="8905875"/>
            <a:ext cx="3070225" cy="466725"/>
          </a:xfrm>
          <a:prstGeom prst="rect"/>
          <a:noFill/>
          <a:ln>
            <a:noFill/>
          </a:ln>
        </p:spPr>
        <p:txBody>
          <a:bodyPr anchor="b" bIns="47017" lIns="94035" rIns="94035" tIns="47017" vert="horz" wrap="none"/>
          <a:p>
            <a:pPr algn="r" lvl="0"/>
            <a:fld id="{566ABCEB-ACFC-4714-9973-3DA970169C29}" type="slidenum">
              <a:rPr altLang="en-US" sz="1200" lang="en-US">
                <a:latin typeface="Times New Roman" pitchFamily="18" charset="0"/>
              </a:rPr>
              <a:pPr algn="r" lvl="0"/>
            </a:fld>
            <a:endParaRPr altLang="en-US" sz="1200" lang="en-US">
              <a:latin typeface="Times New Roman" pitchFamily="18" charset="0"/>
            </a:endParaRPr>
          </a:p>
        </p:txBody>
      </p:sp>
      <p:sp>
        <p:nvSpPr>
          <p:cNvPr id="1048724" name="Rectangle 2"/>
          <p:cNvSpPr/>
          <p:nvPr>
            <p:ph type="sldImg" sz="full" idx="0"/>
          </p:nvPr>
        </p:nvSpPr>
        <p:spPr>
          <a:xfrm rot="0">
            <a:off x="1200150" y="704850"/>
            <a:ext cx="4687887" cy="3514725"/>
          </a:xfrm>
          <a:prstGeom prst="rect"/>
        </p:spPr>
        <p:txBody>
          <a:bodyPr anchor="ctr" bIns="46218" lIns="92437" rIns="92437" tIns="46218" vert="horz" wrap="none"/>
          <a:p/>
        </p:txBody>
      </p:sp>
      <p:sp>
        <p:nvSpPr>
          <p:cNvPr id="1048725" name="Rectangle 3"/>
          <p:cNvSpPr/>
          <p:nvPr>
            <p:ph type="body" sz="full" idx="1"/>
          </p:nvPr>
        </p:nvSpPr>
        <p:spPr>
          <a:xfrm rot="0">
            <a:off x="944562" y="4452937"/>
            <a:ext cx="5197475" cy="4214812"/>
          </a:xfrm>
          <a:prstGeom prst="rect"/>
          <a:noFill/>
        </p:spPr>
        <p:txBody>
          <a:bodyPr anchor="ctr" bIns="47017" lIns="94035" rIns="94035" tIns="47017" vert="horz" wrap="none"/>
          <a:p>
            <a:endParaRPr altLang="en-US"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24" name=""/>
          <p:cNvGrpSpPr/>
          <p:nvPr/>
        </p:nvGrpSpPr>
        <p:grpSpPr>
          <a:xfrm rot="0">
            <a:off x="198437" y="2960687"/>
            <a:ext cx="8610600" cy="201612"/>
            <a:chOff x="125" y="1865"/>
            <a:chExt cx="5424" cy="127"/>
          </a:xfrm>
        </p:grpSpPr>
        <p:sp>
          <p:nvSpPr>
            <p:cNvPr id="1048585" name="Rectangle 4"/>
            <p:cNvSpPr/>
            <p:nvPr/>
          </p:nvSpPr>
          <p:spPr>
            <a:xfrm rot="0">
              <a:off x="125" y="1865"/>
              <a:ext cx="1808" cy="127"/>
            </a:xfrm>
            <a:prstGeom prst="rect"/>
            <a:solidFill>
              <a:srgbClr val="336699"/>
            </a:solidFill>
            <a:ln>
              <a:noFill/>
            </a:ln>
          </p:spPr>
          <p:txBody>
            <a:bodyPr anchor="ctr" bIns="45720" lIns="91440" rIns="91440" tIns="45720" vert="horz" wrap="none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5pPr>
            </a:lstStyle>
            <a:p>
              <a:endParaRPr altLang="en-US" lang="en-US"/>
            </a:p>
          </p:txBody>
        </p:sp>
        <p:sp>
          <p:nvSpPr>
            <p:cNvPr id="1048586" name="Rectangle 5"/>
            <p:cNvSpPr/>
            <p:nvPr/>
          </p:nvSpPr>
          <p:spPr>
            <a:xfrm rot="0">
              <a:off x="1933" y="1865"/>
              <a:ext cx="1808" cy="127"/>
            </a:xfrm>
            <a:prstGeom prst="rect"/>
            <a:solidFill>
              <a:srgbClr val="99CCFF"/>
            </a:solidFill>
            <a:ln>
              <a:noFill/>
            </a:ln>
          </p:spPr>
          <p:txBody>
            <a:bodyPr anchor="ctr" bIns="45720" lIns="91440" rIns="91440" tIns="45720" vert="horz" wrap="none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5pPr>
            </a:lstStyle>
            <a:p>
              <a:endParaRPr altLang="en-US" lang="en-US"/>
            </a:p>
          </p:txBody>
        </p:sp>
        <p:sp>
          <p:nvSpPr>
            <p:cNvPr id="1048587" name="Rectangle 6"/>
            <p:cNvSpPr/>
            <p:nvPr/>
          </p:nvSpPr>
          <p:spPr>
            <a:xfrm rot="0">
              <a:off x="3741" y="1865"/>
              <a:ext cx="1808" cy="127"/>
            </a:xfrm>
            <a:prstGeom prst="rect"/>
            <a:solidFill>
              <a:srgbClr val="336699"/>
            </a:solidFill>
            <a:ln>
              <a:noFill/>
            </a:ln>
          </p:spPr>
          <p:txBody>
            <a:bodyPr anchor="ctr" bIns="45720" lIns="91440" rIns="91440" tIns="45720" vert="horz" wrap="none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Helvetica" pitchFamily="-84" charset="0"/>
                  <a:sym typeface="Verdana" pitchFamily="34" charset="0"/>
                </a:defRPr>
              </a:lvl5pPr>
            </a:lstStyle>
            <a:p>
              <a:endParaRPr altLang="en-US" lang="en-US"/>
            </a:p>
          </p:txBody>
        </p:sp>
      </p:grpSp>
      <p:sp>
        <p:nvSpPr>
          <p:cNvPr id="1048588" name="Text Box 7"/>
          <p:cNvSpPr txBox="1"/>
          <p:nvPr/>
        </p:nvSpPr>
        <p:spPr>
          <a:xfrm rot="0">
            <a:off x="6489700" y="6588125"/>
            <a:ext cx="2713037" cy="2444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lvl="0">
              <a:spcBef>
                <a:spcPct val="50000"/>
              </a:spcBef>
            </a:pPr>
            <a:r>
              <a:rPr altLang="en-US" b="1" sz="1000" lang="en-US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48589" name="Text Box 8"/>
          <p:cNvSpPr txBox="1"/>
          <p:nvPr/>
        </p:nvSpPr>
        <p:spPr>
          <a:xfrm rot="0">
            <a:off x="26987" y="6613525"/>
            <a:ext cx="2452509" cy="231141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lvl="0">
              <a:spcBef>
                <a:spcPct val="50000"/>
              </a:spcBef>
            </a:pPr>
            <a:r>
              <a:rPr altLang="en-US" b="1" sz="1000" lang="en-US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altLang="en-US" baseline="30000" b="1" sz="1000" lang="en-US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altLang="en-US" b="1" sz="1000" lang="en-US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97154" name="Picture 9" descr="dino_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360737" y="4157662"/>
            <a:ext cx="2062162" cy="1593850"/>
          </a:xfrm>
          <a:prstGeom prst="rect"/>
          <a:noFill/>
          <a:ln w="76200" cap="flat" cmpd="sng">
            <a:solidFill>
              <a:srgbClr val="336699">
                <a:alpha val="100000"/>
              </a:srgbClr>
            </a:solidFill>
            <a:prstDash val="solid"/>
            <a:round/>
          </a:ln>
        </p:spPr>
      </p:pic>
      <p:sp>
        <p:nvSpPr>
          <p:cNvPr id="1048590" name="Rectangle 10"/>
          <p:cNvSpPr/>
          <p:nvPr/>
        </p:nvSpPr>
        <p:spPr>
          <a:xfrm rot="0">
            <a:off x="3224212" y="4006850"/>
            <a:ext cx="2336800" cy="1887537"/>
          </a:xfrm>
          <a:prstGeom prst="rect"/>
          <a:noFill/>
          <a:ln w="57150" cap="flat" cmpd="thinThick">
            <a:solidFill>
              <a:srgbClr val="66CCFF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endParaRPr altLang="en-US" lang="en-US"/>
          </a:p>
        </p:txBody>
      </p:sp>
      <p:sp>
        <p:nvSpPr>
          <p:cNvPr id="104859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dirty="0"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4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6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7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90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9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92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9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9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9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</a:pPr>
            <a:endParaRPr baseline="0" b="0" cap="none" sz="3200" i="0" kern="0" kumimoji="1" lang="en-US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itchFamily="34" charset="-128"/>
              <a:cs typeface="ＭＳ Ｐゴシック" charset="-128"/>
            </a:endParaRPr>
          </a:p>
        </p:txBody>
      </p:sp>
      <p:sp>
        <p:nvSpPr>
          <p:cNvPr id="104889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0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1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90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2.jpeg"/><Relationship Id="rId13" Type="http://schemas.openxmlformats.org/officeDocument/2006/relationships/image" Target="../media/image3.jpe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2" name="Picture 2" descr="dino_3"/>
          <p:cNvPicPr>
            <a:picLocks/>
          </p:cNvPicPr>
          <p:nvPr/>
        </p:nvPicPr>
        <p:blipFill>
          <a:blip xmlns:r="http://schemas.openxmlformats.org/officeDocument/2006/relationships" r:embed="rId12"/>
          <a:srcRect l="0" t="0" r="0" b="0"/>
          <a:stretch>
            <a:fillRect/>
          </a:stretch>
        </p:blipFill>
        <p:spPr>
          <a:xfrm rot="0">
            <a:off x="285750" y="0"/>
            <a:ext cx="1195387" cy="908050"/>
          </a:xfrm>
          <a:prstGeom prst="rect"/>
          <a:noFill/>
          <a:ln>
            <a:noFill/>
          </a:ln>
        </p:spPr>
      </p:pic>
      <p:sp>
        <p:nvSpPr>
          <p:cNvPr id="1048576" name="Rectangle 3"/>
          <p:cNvSpPr/>
          <p:nvPr>
            <p:ph type="title" sz="full" idx="0"/>
          </p:nvPr>
        </p:nvSpPr>
        <p:spPr>
          <a:xfrm rot="0">
            <a:off x="457200" y="2778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77" name="Rectangle 4"/>
          <p:cNvSpPr/>
          <p:nvPr>
            <p:ph type="body" sz="full" idx="1"/>
          </p:nvPr>
        </p:nvSpPr>
        <p:spPr>
          <a:xfrm rot="0">
            <a:off x="806450" y="1233487"/>
            <a:ext cx="822960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78" name="Rectangle 5"/>
          <p:cNvSpPr/>
          <p:nvPr/>
        </p:nvSpPr>
        <p:spPr>
          <a:xfrm rot="0">
            <a:off x="0" y="0"/>
            <a:ext cx="228600" cy="2286000"/>
          </a:xfrm>
          <a:prstGeom prst="rect"/>
          <a:solidFill>
            <a:srgbClr val="336699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eaLnBrk="1" hangingPunct="1" lvl="0"/>
            <a:endParaRPr altLang="en-US" sz="2400" lang="en-US">
              <a:latin typeface="Times New Roman" pitchFamily="18" charset="0"/>
            </a:endParaRPr>
          </a:p>
        </p:txBody>
      </p:sp>
      <p:sp>
        <p:nvSpPr>
          <p:cNvPr id="1048579" name="Line 6"/>
          <p:cNvSpPr/>
          <p:nvPr/>
        </p:nvSpPr>
        <p:spPr>
          <a:xfrm rot="0">
            <a:off x="457200" y="860425"/>
            <a:ext cx="8077200" cy="0"/>
          </a:xfrm>
          <a:prstGeom prst="line"/>
          <a:noFill/>
          <a:ln w="19050" cap="flat" cmpd="sng">
            <a:solidFill>
              <a:srgbClr val="336699">
                <a:alpha val="100000"/>
              </a:srgbClr>
            </a:solidFill>
            <a:prstDash val="solid"/>
            <a:round/>
          </a:ln>
        </p:spPr>
      </p:sp>
      <p:sp>
        <p:nvSpPr>
          <p:cNvPr id="1048580" name="Rectangle 7"/>
          <p:cNvSpPr/>
          <p:nvPr/>
        </p:nvSpPr>
        <p:spPr>
          <a:xfrm rot="0">
            <a:off x="0" y="2286000"/>
            <a:ext cx="228600" cy="2286000"/>
          </a:xfrm>
          <a:prstGeom prst="rect"/>
          <a:solidFill>
            <a:srgbClr val="99CC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eaLnBrk="1" hangingPunct="1" lvl="0"/>
            <a:endParaRPr altLang="en-US" sz="2400" lang="en-US">
              <a:latin typeface="Times New Roman" pitchFamily="18" charset="0"/>
            </a:endParaRPr>
          </a:p>
        </p:txBody>
      </p:sp>
      <p:sp>
        <p:nvSpPr>
          <p:cNvPr id="1048581" name="Rectangle 8"/>
          <p:cNvSpPr/>
          <p:nvPr/>
        </p:nvSpPr>
        <p:spPr>
          <a:xfrm rot="0">
            <a:off x="0" y="4572000"/>
            <a:ext cx="228600" cy="2286000"/>
          </a:xfrm>
          <a:prstGeom prst="rect"/>
          <a:solidFill>
            <a:srgbClr val="336699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eaLnBrk="1" hangingPunct="1" lvl="0"/>
            <a:endParaRPr altLang="en-US" sz="2400" lang="en-US">
              <a:latin typeface="Times New Roman" pitchFamily="18" charset="0"/>
            </a:endParaRPr>
          </a:p>
        </p:txBody>
      </p:sp>
      <p:sp>
        <p:nvSpPr>
          <p:cNvPr id="1048582" name="Text Box 9"/>
          <p:cNvSpPr txBox="1"/>
          <p:nvPr/>
        </p:nvSpPr>
        <p:spPr>
          <a:xfrm rot="0">
            <a:off x="4256087" y="6613525"/>
            <a:ext cx="449580" cy="231141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lvl="0">
              <a:spcBef>
                <a:spcPct val="50000"/>
              </a:spcBef>
            </a:pPr>
            <a:r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t>6.</a:t>
            </a:r>
            <a:fld id="{566ABCEB-ACFC-4714-9973-3DA970169C29}" type="slidenum"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pPr algn="ctr" lvl="0">
                <a:spcBef>
                  <a:spcPct val="50000"/>
                </a:spcBef>
              </a:pPr>
            </a:fld>
            <a:endParaRPr altLang="en-US" b="1" sz="1000" lang="en-US">
              <a:solidFill>
                <a:srgbClr val="006699"/>
              </a:solidFill>
              <a:latin typeface="Helvetica" pitchFamily="-84" charset="0"/>
            </a:endParaRPr>
          </a:p>
        </p:txBody>
      </p:sp>
      <p:sp>
        <p:nvSpPr>
          <p:cNvPr id="1048583" name="Text Box 10"/>
          <p:cNvSpPr txBox="1"/>
          <p:nvPr/>
        </p:nvSpPr>
        <p:spPr>
          <a:xfrm rot="0">
            <a:off x="6489700" y="6588125"/>
            <a:ext cx="2713037" cy="2444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algn="ctr" lvl="0">
              <a:spcBef>
                <a:spcPct val="50000"/>
              </a:spcBef>
            </a:pPr>
            <a:r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48584" name="Text Box 11"/>
          <p:cNvSpPr txBox="1"/>
          <p:nvPr/>
        </p:nvSpPr>
        <p:spPr>
          <a:xfrm rot="0">
            <a:off x="185737" y="6621462"/>
            <a:ext cx="2452509" cy="231141"/>
          </a:xfrm>
          <a:prstGeom prst="rect"/>
          <a:noFill/>
          <a:ln>
            <a:noFill/>
          </a:ln>
        </p:spPr>
        <p:txBody>
          <a:bodyPr anchor="t" bIns="45720" lIns="91440" rIns="91440" tIns="45720" vert="horz" wrap="none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Helvetica" pitchFamily="-84" charset="0"/>
                <a:sym typeface="Verdana" pitchFamily="34" charset="0"/>
              </a:defRPr>
            </a:lvl5pPr>
          </a:lstStyle>
          <a:p>
            <a:pPr lvl="0">
              <a:spcBef>
                <a:spcPct val="50000"/>
              </a:spcBef>
            </a:pPr>
            <a:r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altLang="en-US" baseline="30000" b="1" sz="1000" lang="en-US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altLang="en-US" b="1" sz="1000" lang="en-US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97153" name="Picture 12" descr="dino_6"/>
          <p:cNvPicPr>
            <a:picLocks/>
          </p:cNvPicPr>
          <p:nvPr/>
        </p:nvPicPr>
        <p:blipFill>
          <a:blip xmlns:r="http://schemas.openxmlformats.org/officeDocument/2006/relationships" r:embed="rId13"/>
          <a:srcRect l="0" t="0" r="0" b="0"/>
          <a:stretch>
            <a:fillRect/>
          </a:stretch>
        </p:blipFill>
        <p:spPr>
          <a:xfrm rot="0">
            <a:off x="7773987" y="5849937"/>
            <a:ext cx="1284287" cy="792162"/>
          </a:xfrm>
          <a:prstGeom prst="rect"/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/>
  <p:hf dt="0" ft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algn="ctr" fontAlgn="base" marL="45720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</a:defRPr>
      </a:lvl6pPr>
      <a:lvl7pPr algn="ctr" fontAlgn="base" marL="91440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</a:defRPr>
      </a:lvl7pPr>
      <a:lvl8pPr algn="ctr" fontAlgn="base" marL="137160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</a:defRPr>
      </a:lvl8pPr>
      <a:lvl9pPr algn="ctr" fontAlgn="base" marL="1828800" rtl="0">
        <a:spcBef>
          <a:spcPct val="0"/>
        </a:spcBef>
        <a:spcAft>
          <a:spcPct val="0"/>
        </a:spcAft>
        <a:defRPr b="1" sz="3200">
          <a:solidFill>
            <a:srgbClr val="006699"/>
          </a:solidFill>
          <a:latin typeface="Arial" charset="0"/>
        </a:defRPr>
      </a:lvl9pPr>
    </p:titleStyle>
    <p:bodyStyle>
      <a:lvl1pPr algn="l" eaLnBrk="0" fontAlgn="base" hangingPunct="0" indent="-342900" marL="342900" rtl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algn="l" eaLnBrk="0" fontAlgn="base" hangingPunct="0" indent="-285750" marL="742950" rtl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algn="l" eaLnBrk="0" fontAlgn="base" hangingPunct="0" indent="-228600" marL="1085850" rtl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algn="l" eaLnBrk="0" fontAlgn="base" hangingPunct="0" indent="-228600" marL="1428750" rtl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algn="l" eaLnBrk="0" fontAlgn="base" hangingPunct="0" indent="-228600" marL="17716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algn="l" eaLnBrk="0" fontAlgn="base" hangingPunct="0" indent="-228600" marL="22288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algn="l" eaLnBrk="0" fontAlgn="base" hangingPunct="0" indent="-228600" marL="26860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algn="l" eaLnBrk="0" fontAlgn="base" hangingPunct="0" indent="-228600" marL="31432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algn="l" eaLnBrk="0" fontAlgn="base" hangingPunct="0" indent="-228600" marL="3600450" rtl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oleObject" Target="../embeddings/oleObject0.bin"/><Relationship Id="rId2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10.wmf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emf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4" name="Rectangle 2"/>
          <p:cNvSpPr/>
          <p:nvPr>
            <p:ph type="ctrTitle" sz="full" idx="4294967295"/>
          </p:nvPr>
        </p:nvSpPr>
        <p:spPr>
          <a:xfrm rot="0">
            <a:off x="685800" y="782637"/>
            <a:ext cx="7772400" cy="21272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>
              <a:defRPr sz="3200"/>
            </a:lvl1pPr>
          </a:lstStyle>
          <a:p>
            <a:pPr eaLnBrk="1" hangingPunct="1" lvl="0"/>
            <a:r>
              <a:rPr altLang="en-US" sz="4300" lang="en-US"/>
              <a:t>Chapter 6:  CPU Scheduling</a:t>
            </a:r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9" name="Rectangle 2"/>
          <p:cNvSpPr/>
          <p:nvPr>
            <p:ph type="title" sz="full" idx="0"/>
          </p:nvPr>
        </p:nvSpPr>
        <p:spPr>
          <a:xfrm rot="0">
            <a:off x="457200" y="204787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Basic Concepts</a:t>
            </a:r>
          </a:p>
        </p:txBody>
      </p:sp>
      <p:sp>
        <p:nvSpPr>
          <p:cNvPr id="1048610" name="Rectangle 3"/>
          <p:cNvSpPr/>
          <p:nvPr>
            <p:ph type="body" sz="full" idx="1"/>
          </p:nvPr>
        </p:nvSpPr>
        <p:spPr>
          <a:xfrm rot="0">
            <a:off x="841375" y="1274762"/>
            <a:ext cx="3978275" cy="505777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Maximum CPU utilization obtained with multiprogramming</a:t>
            </a:r>
          </a:p>
          <a:p>
            <a:pPr lvl="0"/>
            <a:r>
              <a:rPr altLang="en-US" lang="en-US"/>
              <a:t>CPU–I/O Burst Cycle – Process execution consists of a </a:t>
            </a:r>
            <a:r>
              <a:rPr altLang="en-US" b="1" lang="en-US">
                <a:solidFill>
                  <a:srgbClr val="3366FF"/>
                </a:solidFill>
              </a:rPr>
              <a:t>cycle</a:t>
            </a:r>
            <a:r>
              <a:rPr altLang="en-US" lang="en-US"/>
              <a:t> of CPU execution and I/O wait</a:t>
            </a:r>
          </a:p>
          <a:p>
            <a:pPr lvl="0"/>
            <a:r>
              <a:rPr altLang="en-US" b="1" lang="en-US">
                <a:solidFill>
                  <a:srgbClr val="3366FF"/>
                </a:solidFill>
              </a:rPr>
              <a:t>CPU burst </a:t>
            </a:r>
            <a:r>
              <a:rPr altLang="en-US" lang="en-US"/>
              <a:t>followed by </a:t>
            </a:r>
            <a:r>
              <a:rPr altLang="en-US" b="1" lang="en-US">
                <a:solidFill>
                  <a:srgbClr val="3366FF"/>
                </a:solidFill>
              </a:rPr>
              <a:t>I/O burst</a:t>
            </a:r>
          </a:p>
          <a:p>
            <a:pPr lvl="0"/>
            <a:r>
              <a:rPr altLang="en-US" lang="en-US"/>
              <a:t>CPU burst distribution is of main concern</a:t>
            </a:r>
          </a:p>
          <a:p>
            <a:pPr lvl="0">
              <a:buNone/>
            </a:pPr>
            <a:endParaRPr altLang="en-US" lang="en-US"/>
          </a:p>
        </p:txBody>
      </p:sp>
      <p:pic>
        <p:nvPicPr>
          <p:cNvPr id="2097155" name="Picture 1" descr="6_01.pd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381625" y="1143000"/>
            <a:ext cx="2360612" cy="49625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4" name="Rectangle 2"/>
          <p:cNvSpPr/>
          <p:nvPr>
            <p:ph type="title" sz="full" idx="0"/>
          </p:nvPr>
        </p:nvSpPr>
        <p:spPr>
          <a:xfrm rot="0">
            <a:off x="1066800" y="176212"/>
            <a:ext cx="76200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Histogram of CPU-burst Times</a:t>
            </a:r>
          </a:p>
        </p:txBody>
      </p:sp>
      <p:pic>
        <p:nvPicPr>
          <p:cNvPr id="2097156" name="Picture 9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614487" y="1525587"/>
            <a:ext cx="5721350" cy="38052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9" name="Rectangle 2"/>
          <p:cNvSpPr/>
          <p:nvPr>
            <p:ph type="title" sz="full" idx="0"/>
          </p:nvPr>
        </p:nvSpPr>
        <p:spPr>
          <a:xfrm rot="0">
            <a:off x="838200" y="201612"/>
            <a:ext cx="7848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CPU Scheduler</a:t>
            </a:r>
          </a:p>
        </p:txBody>
      </p:sp>
      <p:sp>
        <p:nvSpPr>
          <p:cNvPr id="1048620" name="Rectangle 3"/>
          <p:cNvSpPr/>
          <p:nvPr>
            <p:ph type="body" sz="full" idx="1"/>
          </p:nvPr>
        </p:nvSpPr>
        <p:spPr>
          <a:xfrm rot="0">
            <a:off x="933450" y="1169987"/>
            <a:ext cx="7067550" cy="47863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indent="-341312" lvl="0" marL="341312"/>
            <a:r>
              <a:rPr altLang="en-US" b="1" lang="en-US">
                <a:solidFill>
                  <a:srgbClr val="3366FF"/>
                </a:solidFill>
              </a:rPr>
              <a:t>Short-term scheduler </a:t>
            </a:r>
            <a:r>
              <a:rPr altLang="en-US" lang="en-US"/>
              <a:t>selects </a:t>
            </a:r>
            <a:r>
              <a:rPr altLang="en-US" lang="en-US"/>
              <a:t>from among the processes in</a:t>
            </a:r>
            <a:r>
              <a:rPr altLang="en-US" lang="en-US"/>
              <a:t> ready queue, and </a:t>
            </a:r>
            <a:r>
              <a:rPr altLang="en-US" lang="en-US"/>
              <a:t>allocates the CPU to one of </a:t>
            </a:r>
            <a:r>
              <a:rPr altLang="en-US" lang="en-US"/>
              <a:t>them</a:t>
            </a:r>
          </a:p>
          <a:p>
            <a:pPr indent="-444817" lvl="1" marL="741362"/>
            <a:r>
              <a:rPr altLang="en-US" lang="en-US"/>
              <a:t>Queue may be ordered in various ways</a:t>
            </a:r>
          </a:p>
          <a:p>
            <a:pPr indent="-341312" lvl="0" marL="341312"/>
            <a:r>
              <a:rPr altLang="en-US" lang="en-US"/>
              <a:t>CPU scheduling decisions may take place when a process:</a:t>
            </a:r>
          </a:p>
          <a:p>
            <a:pPr indent="-444817" lvl="1" marL="741362">
              <a:buNone/>
            </a:pPr>
            <a:r>
              <a:rPr altLang="en-US" lang="en-US">
                <a:solidFill>
                  <a:srgbClr val="CC6600"/>
                </a:solidFill>
              </a:rPr>
              <a:t>1.	</a:t>
            </a:r>
            <a:r>
              <a:rPr altLang="en-US" lang="en-US"/>
              <a:t>Switches from running to waiting state</a:t>
            </a:r>
          </a:p>
          <a:p>
            <a:pPr indent="-444817" lvl="1" marL="741362">
              <a:buNone/>
            </a:pPr>
            <a:r>
              <a:rPr altLang="en-US" lang="en-US">
                <a:solidFill>
                  <a:srgbClr val="CC6600"/>
                </a:solidFill>
              </a:rPr>
              <a:t>2.</a:t>
            </a:r>
            <a:r>
              <a:rPr altLang="en-US" lang="en-US"/>
              <a:t>	Switches from running to ready state</a:t>
            </a:r>
          </a:p>
          <a:p>
            <a:pPr indent="-444817" lvl="1" marL="741362">
              <a:buNone/>
            </a:pPr>
            <a:r>
              <a:rPr altLang="en-US" lang="en-US">
                <a:solidFill>
                  <a:srgbClr val="CC6600"/>
                </a:solidFill>
              </a:rPr>
              <a:t>3.</a:t>
            </a:r>
            <a:r>
              <a:rPr altLang="en-US" lang="en-US"/>
              <a:t>	Switches from waiting to ready</a:t>
            </a:r>
          </a:p>
          <a:p>
            <a:pPr indent="-444817" lvl="1" marL="741362">
              <a:buFont typeface="Monotype Sorts" pitchFamily="-84" charset="2"/>
              <a:buAutoNum type="arabicPeriod" startAt="4"/>
            </a:pPr>
            <a:r>
              <a:rPr altLang="en-US" lang="en-US"/>
              <a:t>Terminates</a:t>
            </a:r>
          </a:p>
          <a:p>
            <a:pPr indent="-341312" lvl="0" marL="341312"/>
            <a:r>
              <a:rPr altLang="en-US" lang="en-US"/>
              <a:t>Scheduling under 1 and 4 is </a:t>
            </a:r>
            <a:r>
              <a:rPr altLang="en-US" b="1" lang="en-US">
                <a:solidFill>
                  <a:srgbClr val="3366FF"/>
                </a:solidFill>
              </a:rPr>
              <a:t>nonpreemptive</a:t>
            </a:r>
          </a:p>
          <a:p>
            <a:pPr indent="-341312" lvl="0" marL="341312"/>
            <a:r>
              <a:rPr altLang="en-US" lang="en-US"/>
              <a:t>All other scheduling is </a:t>
            </a:r>
            <a:r>
              <a:rPr altLang="en-US" b="1" lang="en-US">
                <a:solidFill>
                  <a:srgbClr val="3366FF"/>
                </a:solidFill>
              </a:rPr>
              <a:t>preemptive</a:t>
            </a:r>
          </a:p>
          <a:p>
            <a:pPr indent="-444817" lvl="1" marL="741362"/>
            <a:r>
              <a:rPr altLang="en-US" lang="en-US"/>
              <a:t>Consider access to shared data</a:t>
            </a:r>
          </a:p>
          <a:p>
            <a:pPr indent="-444817" lvl="1" marL="741362"/>
            <a:r>
              <a:rPr altLang="en-US" lang="en-US"/>
              <a:t>Consider preemption while in kernel mode</a:t>
            </a:r>
          </a:p>
          <a:p>
            <a:pPr indent="-444817" lvl="1" marL="741362"/>
            <a:r>
              <a:rPr altLang="en-US" lang="en-US"/>
              <a:t>Consider interrupts occurring during crucial OS activities</a:t>
            </a:r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4" name="Rectangle 2"/>
          <p:cNvSpPr/>
          <p:nvPr>
            <p:ph type="title" sz="full" idx="0"/>
          </p:nvPr>
        </p:nvSpPr>
        <p:spPr>
          <a:xfrm rot="0">
            <a:off x="457200" y="133350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Dispatcher</a:t>
            </a:r>
          </a:p>
        </p:txBody>
      </p:sp>
      <p:sp>
        <p:nvSpPr>
          <p:cNvPr id="1048625" name="Rectangle 3"/>
          <p:cNvSpPr/>
          <p:nvPr>
            <p:ph type="body" sz="full" idx="1"/>
          </p:nvPr>
        </p:nvSpPr>
        <p:spPr>
          <a:xfrm rot="0">
            <a:off x="866775" y="1177925"/>
            <a:ext cx="6724650" cy="44831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Dispatcher module gives control of the CPU to the process selected by the short-term scheduler; this involves:</a:t>
            </a:r>
          </a:p>
          <a:p>
            <a:pPr lvl="1"/>
            <a:r>
              <a:rPr altLang="en-US" lang="en-US"/>
              <a:t>switching context</a:t>
            </a:r>
          </a:p>
          <a:p>
            <a:pPr lvl="1"/>
            <a:r>
              <a:rPr altLang="en-US" lang="en-US"/>
              <a:t>switching to user mode</a:t>
            </a:r>
          </a:p>
          <a:p>
            <a:pPr lvl="1"/>
            <a:r>
              <a:rPr altLang="en-US" lang="en-US"/>
              <a:t>jumping to the proper location in the user program to restart that program</a:t>
            </a:r>
          </a:p>
          <a:p>
            <a:pPr lvl="0"/>
            <a:r>
              <a:rPr altLang="en-US" b="1" lang="en-US">
                <a:solidFill>
                  <a:srgbClr val="3366FF"/>
                </a:solidFill>
              </a:rPr>
              <a:t>Dispatch latency </a:t>
            </a:r>
            <a:r>
              <a:rPr altLang="en-US" lang="en-US"/>
              <a:t>– time it takes for the dispatcher to stop one process and start another running</a:t>
            </a: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9" name="Rectangle 2"/>
          <p:cNvSpPr/>
          <p:nvPr>
            <p:ph type="title" sz="full" idx="0"/>
          </p:nvPr>
        </p:nvSpPr>
        <p:spPr>
          <a:xfrm rot="0">
            <a:off x="990600" y="214312"/>
            <a:ext cx="76962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Scheduling Criteria</a:t>
            </a:r>
          </a:p>
        </p:txBody>
      </p:sp>
      <p:sp>
        <p:nvSpPr>
          <p:cNvPr id="1048630" name="Rectangle 3"/>
          <p:cNvSpPr/>
          <p:nvPr>
            <p:ph type="body" sz="full" idx="1"/>
          </p:nvPr>
        </p:nvSpPr>
        <p:spPr>
          <a:xfrm rot="0">
            <a:off x="933450" y="1246187"/>
            <a:ext cx="7156450" cy="49593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b="1" lang="en-US"/>
              <a:t>CPU utilization </a:t>
            </a:r>
            <a:r>
              <a:rPr altLang="en-US" lang="en-US"/>
              <a:t>– keep the CPU as busy as possible</a:t>
            </a:r>
          </a:p>
          <a:p>
            <a:pPr lvl="0"/>
            <a:r>
              <a:rPr altLang="en-US" b="1" lang="en-US"/>
              <a:t>Throughput</a:t>
            </a:r>
            <a:r>
              <a:rPr altLang="en-US" lang="en-US"/>
              <a:t> – # of processes that complete their execution per time unit</a:t>
            </a:r>
          </a:p>
          <a:p>
            <a:pPr lvl="0"/>
            <a:r>
              <a:rPr altLang="en-US" b="1" lang="en-US"/>
              <a:t>Turnaround time </a:t>
            </a:r>
            <a:r>
              <a:rPr altLang="en-US" lang="en-US"/>
              <a:t>– amount of time to execute a particular process</a:t>
            </a:r>
          </a:p>
          <a:p>
            <a:pPr lvl="0"/>
            <a:r>
              <a:rPr altLang="en-US" b="1" lang="en-US"/>
              <a:t>Waiting time </a:t>
            </a:r>
            <a:r>
              <a:rPr altLang="en-US" lang="en-US"/>
              <a:t>– amount of time a process has been waiting in the ready queue</a:t>
            </a:r>
          </a:p>
          <a:p>
            <a:pPr lvl="0"/>
            <a:r>
              <a:rPr altLang="en-US" b="1" lang="en-US"/>
              <a:t>Response time </a:t>
            </a:r>
            <a:r>
              <a:rPr altLang="en-US" lang="en-US"/>
              <a:t>– amount of time it takes from when a request was submitted until the first response is produced, not output  (for time-sharing environment)</a:t>
            </a: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4" name="Rectangle 2"/>
          <p:cNvSpPr/>
          <p:nvPr>
            <p:ph type="title" sz="full" idx="0"/>
          </p:nvPr>
        </p:nvSpPr>
        <p:spPr>
          <a:xfrm rot="0">
            <a:off x="1554162" y="138112"/>
            <a:ext cx="7513637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sz="2800" lang="en-US"/>
              <a:t>Scheduling Algorithm Optimization Criteria</a:t>
            </a:r>
          </a:p>
        </p:txBody>
      </p:sp>
      <p:sp>
        <p:nvSpPr>
          <p:cNvPr id="1048635" name="Rectangle 3"/>
          <p:cNvSpPr/>
          <p:nvPr>
            <p:ph type="body" sz="full" idx="1"/>
          </p:nvPr>
        </p:nvSpPr>
        <p:spPr>
          <a:xfrm rot="0">
            <a:off x="852487" y="1174750"/>
            <a:ext cx="6115050" cy="44831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r>
              <a:rPr altLang="en-US" lang="en-US"/>
              <a:t>Max CPU utilization</a:t>
            </a:r>
          </a:p>
          <a:p>
            <a:r>
              <a:rPr altLang="en-US" lang="en-US"/>
              <a:t>Max throughput</a:t>
            </a:r>
          </a:p>
          <a:p>
            <a:r>
              <a:rPr altLang="en-US" lang="en-US"/>
              <a:t>Min turnaround time </a:t>
            </a:r>
          </a:p>
          <a:p>
            <a:r>
              <a:rPr altLang="en-US" lang="en-US"/>
              <a:t>Min waiting time </a:t>
            </a:r>
          </a:p>
          <a:p>
            <a:r>
              <a:rPr altLang="en-US" lang="en-US"/>
              <a:t>Min response time</a:t>
            </a:r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9" name="Rectangle 2"/>
          <p:cNvSpPr/>
          <p:nvPr>
            <p:ph type="title" sz="full" idx="0"/>
          </p:nvPr>
        </p:nvSpPr>
        <p:spPr>
          <a:xfrm rot="0">
            <a:off x="1150937" y="268287"/>
            <a:ext cx="7997825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sz="2400" lang="en-US"/>
              <a:t>First- Come, First-Served (FCFS) Scheduling</a:t>
            </a:r>
          </a:p>
        </p:txBody>
      </p:sp>
      <p:sp>
        <p:nvSpPr>
          <p:cNvPr id="1048640" name="Rectangle 3"/>
          <p:cNvSpPr/>
          <p:nvPr>
            <p:ph type="body" sz="full" idx="1"/>
          </p:nvPr>
        </p:nvSpPr>
        <p:spPr>
          <a:xfrm rot="0">
            <a:off x="833437" y="1250950"/>
            <a:ext cx="7566025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>
              <a:lnSpc>
                <a:spcPct val="90000"/>
              </a:lnSpc>
              <a:buNone/>
              <a:tabLst>
                <a:tab algn="ctr" pos="3028950"/>
                <a:tab algn="ctr" pos="4633912"/>
              </a:tabLst>
            </a:pPr>
            <a:r>
              <a:rPr altLang="en-US" sz="1600" lang="en-US"/>
              <a:t>		</a:t>
            </a:r>
            <a:r>
              <a:rPr altLang="en-US" lang="en-US" u="sng"/>
              <a:t>Process</a:t>
            </a:r>
            <a:r>
              <a:rPr altLang="en-US" lang="en-US"/>
              <a:t>	</a:t>
            </a:r>
            <a:r>
              <a:rPr altLang="en-US" lang="en-US" u="sng"/>
              <a:t>Burst Time	</a:t>
            </a:r>
          </a:p>
          <a:p>
            <a:pPr lvl="0">
              <a:lnSpc>
                <a:spcPct val="90000"/>
              </a:lnSpc>
              <a:buNone/>
              <a:tabLst>
                <a:tab algn="ctr" pos="3028950"/>
                <a:tab algn="ctr" pos="4633912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1</a:t>
            </a:r>
            <a:r>
              <a:rPr altLang="en-US" lang="en-US"/>
              <a:t>	24</a:t>
            </a:r>
          </a:p>
          <a:p>
            <a:pPr lvl="0">
              <a:lnSpc>
                <a:spcPct val="90000"/>
              </a:lnSpc>
              <a:buNone/>
              <a:tabLst>
                <a:tab algn="ctr" pos="3028950"/>
                <a:tab algn="ctr" pos="4633912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2</a:t>
            </a:r>
            <a:r>
              <a:rPr altLang="en-US" lang="en-US"/>
              <a:t> 	3</a:t>
            </a:r>
          </a:p>
          <a:p>
            <a:pPr lvl="0">
              <a:lnSpc>
                <a:spcPct val="90000"/>
              </a:lnSpc>
              <a:buNone/>
              <a:tabLst>
                <a:tab algn="ctr" pos="3028950"/>
                <a:tab algn="ctr" pos="4633912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3	 </a:t>
            </a:r>
            <a:r>
              <a:rPr altLang="en-US" lang="en-US"/>
              <a:t>3</a:t>
            </a:r>
            <a:r>
              <a:rPr altLang="en-US" baseline="-25000" i="1" lang="en-US"/>
              <a:t> </a:t>
            </a:r>
          </a:p>
          <a:p>
            <a:pPr lvl="0">
              <a:lnSpc>
                <a:spcPct val="90000"/>
              </a:lnSpc>
            </a:pPr>
            <a:r>
              <a:rPr altLang="en-US" lang="en-US"/>
              <a:t>Suppose that the processes arrive in the order: </a:t>
            </a:r>
            <a:r>
              <a:rPr altLang="en-US" i="1" lang="en-US"/>
              <a:t>P</a:t>
            </a:r>
            <a:r>
              <a:rPr altLang="en-US" baseline="-25000" i="1" lang="en-US"/>
              <a:t>1</a:t>
            </a:r>
            <a:r>
              <a:rPr altLang="en-US" lang="en-US"/>
              <a:t> , </a:t>
            </a:r>
            <a:r>
              <a:rPr altLang="en-US" i="1" lang="en-US"/>
              <a:t>P</a:t>
            </a:r>
            <a:r>
              <a:rPr altLang="en-US" baseline="-25000" i="1" lang="en-US"/>
              <a:t>2</a:t>
            </a:r>
            <a:r>
              <a:rPr altLang="en-US" lang="en-US"/>
              <a:t> , </a:t>
            </a:r>
            <a:r>
              <a:rPr altLang="en-US" i="1" lang="en-US"/>
              <a:t>P</a:t>
            </a:r>
            <a:r>
              <a:rPr altLang="en-US" baseline="-25000" i="1" lang="en-US"/>
              <a:t>3  </a:t>
            </a:r>
            <a:br>
              <a:rPr altLang="en-US" baseline="-25000" i="1" lang="en-US"/>
            </a:br>
            <a:r>
              <a:rPr altLang="en-US" lang="en-US"/>
              <a:t>The Gantt Chart for the schedule is:</a:t>
            </a:r>
            <a:br>
              <a:rPr altLang="en-US" lang="en-US"/>
            </a:br>
            <a:br>
              <a:rPr altLang="en-US" sz="1600" lang="en-US"/>
            </a:br>
            <a:br>
              <a:rPr altLang="en-US" sz="1600" lang="en-US"/>
            </a:br>
            <a:br>
              <a:rPr altLang="en-US" sz="1600" lang="en-US"/>
            </a:br>
            <a:br>
              <a:rPr altLang="en-US" sz="1600" lang="en-US"/>
            </a:br>
            <a:endParaRPr altLang="en-US" sz="1600" lang="en-US"/>
          </a:p>
          <a:p>
            <a:pPr lvl="0">
              <a:lnSpc>
                <a:spcPct val="90000"/>
              </a:lnSpc>
              <a:buNone/>
            </a:pPr>
            <a:endParaRPr altLang="en-US" sz="1600" lang="en-US"/>
          </a:p>
          <a:p>
            <a:pPr lvl="0">
              <a:lnSpc>
                <a:spcPct val="90000"/>
              </a:lnSpc>
            </a:pPr>
            <a:r>
              <a:rPr altLang="en-US" lang="en-US"/>
              <a:t>Waiting time for </a:t>
            </a:r>
            <a:r>
              <a:rPr altLang="en-US" i="1" lang="en-US"/>
              <a:t>P</a:t>
            </a:r>
            <a:r>
              <a:rPr altLang="en-US" baseline="-25000" i="1" lang="en-US"/>
              <a:t>1</a:t>
            </a:r>
            <a:r>
              <a:rPr altLang="en-US" lang="en-US"/>
              <a:t>  = 0; </a:t>
            </a:r>
            <a:r>
              <a:rPr altLang="en-US" i="1" lang="en-US"/>
              <a:t>P</a:t>
            </a:r>
            <a:r>
              <a:rPr altLang="en-US" baseline="-25000" i="1" lang="en-US"/>
              <a:t>2</a:t>
            </a:r>
            <a:r>
              <a:rPr altLang="en-US" lang="en-US"/>
              <a:t>  = 24; </a:t>
            </a:r>
            <a:r>
              <a:rPr altLang="en-US" i="1" lang="en-US"/>
              <a:t>P</a:t>
            </a:r>
            <a:r>
              <a:rPr altLang="en-US" baseline="-25000" i="1" lang="en-US"/>
              <a:t>3 </a:t>
            </a:r>
            <a:r>
              <a:rPr altLang="en-US" lang="en-US"/>
              <a:t>= 27</a:t>
            </a:r>
          </a:p>
          <a:p>
            <a:pPr lvl="0">
              <a:lnSpc>
                <a:spcPct val="90000"/>
              </a:lnSpc>
            </a:pPr>
            <a:r>
              <a:rPr altLang="en-US" lang="en-US"/>
              <a:t>Average waiting time:  (0 + 24 + 27)/3 = 17</a:t>
            </a:r>
          </a:p>
        </p:txBody>
      </p:sp>
      <p:pic>
        <p:nvPicPr>
          <p:cNvPr id="2097157" name="Picture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171575" y="3479800"/>
            <a:ext cx="6954837" cy="8016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4" name="Rectangle 2"/>
          <p:cNvSpPr/>
          <p:nvPr>
            <p:ph type="title" sz="full" idx="0"/>
          </p:nvPr>
        </p:nvSpPr>
        <p:spPr>
          <a:xfrm rot="0">
            <a:off x="982662" y="277812"/>
            <a:ext cx="7704137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FCFS Scheduling (Cont.)</a:t>
            </a:r>
          </a:p>
        </p:txBody>
      </p:sp>
      <p:sp>
        <p:nvSpPr>
          <p:cNvPr id="1048645" name="Rectangle 3"/>
          <p:cNvSpPr/>
          <p:nvPr>
            <p:ph type="body" sz="full" idx="1"/>
          </p:nvPr>
        </p:nvSpPr>
        <p:spPr>
          <a:xfrm rot="0">
            <a:off x="908050" y="1233487"/>
            <a:ext cx="76517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>
              <a:buNone/>
              <a:tabLst>
                <a:tab algn="ctr" pos="3648075"/>
              </a:tabLst>
            </a:pPr>
            <a:r>
              <a:rPr altLang="en-US" lang="en-US"/>
              <a:t>Suppose that the processes arrive in the order:</a:t>
            </a:r>
          </a:p>
          <a:p>
            <a:pPr lvl="0">
              <a:buNone/>
              <a:tabLst>
                <a:tab algn="ctr" pos="3648075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2</a:t>
            </a:r>
            <a:r>
              <a:rPr altLang="en-US" lang="en-US"/>
              <a:t> , </a:t>
            </a:r>
            <a:r>
              <a:rPr altLang="en-US" i="1" lang="en-US"/>
              <a:t>P</a:t>
            </a:r>
            <a:r>
              <a:rPr altLang="en-US" baseline="-25000" i="1" lang="en-US"/>
              <a:t>3</a:t>
            </a:r>
            <a:r>
              <a:rPr altLang="en-US" lang="en-US"/>
              <a:t> , </a:t>
            </a:r>
            <a:r>
              <a:rPr altLang="en-US" i="1" lang="en-US"/>
              <a:t>P</a:t>
            </a:r>
            <a:r>
              <a:rPr altLang="en-US" baseline="-25000" i="1" lang="en-US"/>
              <a:t>1</a:t>
            </a:r>
            <a:r>
              <a:rPr altLang="en-US" lang="en-US"/>
              <a:t> </a:t>
            </a:r>
          </a:p>
          <a:p>
            <a:pPr lvl="0"/>
            <a:r>
              <a:rPr altLang="en-US" lang="en-US"/>
              <a:t>The Gantt chart for the schedule is:</a:t>
            </a:r>
            <a:br>
              <a:rPr altLang="en-US" lang="en-US"/>
            </a:br>
            <a:endParaRPr altLang="en-US" lang="en-US"/>
          </a:p>
          <a:p>
            <a:pPr lvl="0"/>
            <a:endParaRPr altLang="en-US" lang="en-US"/>
          </a:p>
          <a:p>
            <a:pPr lvl="0"/>
            <a:endParaRPr altLang="en-US" lang="en-US"/>
          </a:p>
          <a:p>
            <a:pPr lvl="0">
              <a:buNone/>
            </a:pPr>
            <a:endParaRPr altLang="en-US" lang="en-US"/>
          </a:p>
          <a:p>
            <a:pPr lvl="0"/>
            <a:r>
              <a:rPr altLang="en-US" lang="en-US"/>
              <a:t>Waiting time for </a:t>
            </a:r>
            <a:r>
              <a:rPr altLang="en-US" i="1" lang="en-US"/>
              <a:t>P</a:t>
            </a:r>
            <a:r>
              <a:rPr altLang="en-US" baseline="-25000" i="1" lang="en-US"/>
              <a:t>1 </a:t>
            </a:r>
            <a:r>
              <a:rPr altLang="en-US" i="1" lang="en-US"/>
              <a:t>=</a:t>
            </a:r>
            <a:r>
              <a:rPr altLang="en-US" lang="en-US"/>
              <a:t> 6</a:t>
            </a:r>
            <a:r>
              <a:rPr altLang="en-US" i="1" lang="en-US"/>
              <a:t>;</a:t>
            </a:r>
            <a:r>
              <a:rPr altLang="en-US" baseline="-25000" i="1" lang="en-US"/>
              <a:t> </a:t>
            </a:r>
            <a:r>
              <a:rPr altLang="en-US" i="1" lang="en-US"/>
              <a:t>P</a:t>
            </a:r>
            <a:r>
              <a:rPr altLang="en-US" baseline="-25000" i="1" lang="en-US"/>
              <a:t>2</a:t>
            </a:r>
            <a:r>
              <a:rPr altLang="en-US" lang="en-US"/>
              <a:t> = 0</a:t>
            </a:r>
            <a:r>
              <a:rPr altLang="en-US" baseline="-25000" i="1" lang="en-US"/>
              <a:t>; </a:t>
            </a:r>
            <a:r>
              <a:rPr altLang="en-US" i="1" lang="en-US"/>
              <a:t>P</a:t>
            </a:r>
            <a:r>
              <a:rPr altLang="en-US" baseline="-25000" i="1" lang="en-US"/>
              <a:t>3 </a:t>
            </a:r>
            <a:r>
              <a:rPr altLang="en-US" i="1" lang="en-US"/>
              <a:t>= </a:t>
            </a:r>
            <a:r>
              <a:rPr altLang="en-US" lang="en-US"/>
              <a:t>3</a:t>
            </a:r>
          </a:p>
          <a:p>
            <a:pPr lvl="0"/>
            <a:r>
              <a:rPr altLang="en-US" lang="en-US"/>
              <a:t>Average waiting time:   (6 + 0 + 3)/3 = 3</a:t>
            </a:r>
          </a:p>
          <a:p>
            <a:pPr lvl="0"/>
            <a:r>
              <a:rPr altLang="en-US" lang="en-US"/>
              <a:t>Much better than previous case</a:t>
            </a:r>
          </a:p>
          <a:p>
            <a:pPr lvl="0"/>
            <a:r>
              <a:rPr altLang="en-US" b="1" lang="en-US">
                <a:solidFill>
                  <a:srgbClr val="3366FF"/>
                </a:solidFill>
              </a:rPr>
              <a:t>Convoy effect </a:t>
            </a:r>
            <a:r>
              <a:rPr altLang="en-US" lang="en-US"/>
              <a:t>- short process behind long process</a:t>
            </a:r>
          </a:p>
          <a:p>
            <a:pPr lvl="1"/>
            <a:r>
              <a:rPr altLang="en-US" lang="en-US"/>
              <a:t>Consider one CPU-bound and many I/O-bound processes</a:t>
            </a:r>
          </a:p>
        </p:txBody>
      </p:sp>
      <p:pic>
        <p:nvPicPr>
          <p:cNvPr id="2097158" name="Picture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270000" y="2632075"/>
            <a:ext cx="7123112" cy="8048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9" name="Rectangle 2"/>
          <p:cNvSpPr/>
          <p:nvPr>
            <p:ph type="title" sz="full" idx="0"/>
          </p:nvPr>
        </p:nvSpPr>
        <p:spPr>
          <a:xfrm rot="0">
            <a:off x="1058862" y="188912"/>
            <a:ext cx="7704137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Shortest-Job-First (SJF) Scheduling</a:t>
            </a:r>
          </a:p>
        </p:txBody>
      </p:sp>
      <p:sp>
        <p:nvSpPr>
          <p:cNvPr id="1048650" name="Rectangle 3"/>
          <p:cNvSpPr/>
          <p:nvPr>
            <p:ph type="body" sz="full" idx="1"/>
          </p:nvPr>
        </p:nvSpPr>
        <p:spPr>
          <a:xfrm rot="0">
            <a:off x="908050" y="1233487"/>
            <a:ext cx="71437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Associate with each process the length of its next CPU burst</a:t>
            </a:r>
          </a:p>
          <a:p>
            <a:pPr lvl="1"/>
            <a:r>
              <a:rPr altLang="en-US" lang="en-US"/>
              <a:t> Use these lengths to schedule the process with the shortest time</a:t>
            </a:r>
          </a:p>
          <a:p>
            <a:pPr lvl="0"/>
            <a:r>
              <a:rPr altLang="en-US" lang="en-US"/>
              <a:t>SJF is optimal – gives minimum average waiting time for a given set of processes</a:t>
            </a:r>
          </a:p>
          <a:p>
            <a:pPr lvl="1"/>
            <a:r>
              <a:rPr altLang="en-US" lang="en-US"/>
              <a:t>The difficulty is knowing the length of the next CPU request</a:t>
            </a:r>
          </a:p>
          <a:p>
            <a:pPr lvl="1"/>
            <a:r>
              <a:rPr altLang="en-US" lang="en-US"/>
              <a:t>Could ask the user</a:t>
            </a:r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4" name="Rectangle 2"/>
          <p:cNvSpPr/>
          <p:nvPr>
            <p:ph type="title" sz="full" idx="0"/>
          </p:nvPr>
        </p:nvSpPr>
        <p:spPr>
          <a:xfrm rot="0">
            <a:off x="457200" y="2016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Example of SJF</a:t>
            </a:r>
          </a:p>
        </p:txBody>
      </p:sp>
      <p:sp>
        <p:nvSpPr>
          <p:cNvPr id="1048655" name="Rectangle 36"/>
          <p:cNvSpPr/>
          <p:nvPr>
            <p:ph type="body" sz="full" idx="1"/>
          </p:nvPr>
        </p:nvSpPr>
        <p:spPr>
          <a:xfrm rot="0">
            <a:off x="806450" y="1233487"/>
            <a:ext cx="822960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      	                </a:t>
            </a:r>
            <a:r>
              <a:rPr altLang="en-US" lang="en-US" u="sng"/>
              <a:t>Process</a:t>
            </a:r>
            <a:r>
              <a:rPr altLang="en-US" lang="en-US" u="sng">
                <a:solidFill>
                  <a:schemeClr val="lt1"/>
                </a:solidFill>
              </a:rPr>
              <a:t>Arriva	l Time</a:t>
            </a:r>
            <a:r>
              <a:rPr altLang="en-US" lang="en-US"/>
              <a:t>	</a:t>
            </a:r>
            <a:r>
              <a:rPr altLang="en-US" lang="en-US" u="sng"/>
              <a:t>Burst Time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            </a:t>
            </a:r>
            <a:r>
              <a:rPr altLang="en-US" i="1" lang="en-US"/>
              <a:t>P</a:t>
            </a:r>
            <a:r>
              <a:rPr altLang="en-US" baseline="-25000" i="1" lang="en-US"/>
              <a:t>1</a:t>
            </a:r>
            <a:r>
              <a:rPr altLang="en-US" lang="en-US"/>
              <a:t>	</a:t>
            </a:r>
            <a:r>
              <a:rPr altLang="en-US" lang="en-US">
                <a:solidFill>
                  <a:schemeClr val="lt1"/>
                </a:solidFill>
              </a:rPr>
              <a:t>0.0</a:t>
            </a:r>
            <a:r>
              <a:rPr altLang="en-US" lang="en-US"/>
              <a:t>	6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           </a:t>
            </a:r>
            <a:r>
              <a:rPr altLang="en-US" i="1" lang="en-US"/>
              <a:t>P</a:t>
            </a:r>
            <a:r>
              <a:rPr altLang="en-US" baseline="-25000" i="1" lang="en-US"/>
              <a:t>2 	</a:t>
            </a:r>
            <a:r>
              <a:rPr altLang="en-US" lang="en-US">
                <a:solidFill>
                  <a:schemeClr val="lt1"/>
                </a:solidFill>
              </a:rPr>
              <a:t>2.0</a:t>
            </a:r>
            <a:r>
              <a:rPr altLang="en-US" lang="en-US"/>
              <a:t>	8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           </a:t>
            </a:r>
            <a:r>
              <a:rPr altLang="en-US" i="1" lang="en-US"/>
              <a:t>P</a:t>
            </a:r>
            <a:r>
              <a:rPr altLang="en-US" baseline="-25000" i="1" lang="en-US"/>
              <a:t>3</a:t>
            </a:r>
            <a:r>
              <a:rPr altLang="en-US" lang="en-US"/>
              <a:t>	</a:t>
            </a:r>
            <a:r>
              <a:rPr altLang="en-US" lang="en-US">
                <a:solidFill>
                  <a:schemeClr val="lt1"/>
                </a:solidFill>
              </a:rPr>
              <a:t>4.0</a:t>
            </a:r>
            <a:r>
              <a:rPr altLang="en-US" lang="en-US"/>
              <a:t>	7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           </a:t>
            </a:r>
            <a:r>
              <a:rPr altLang="en-US" i="1" lang="en-US"/>
              <a:t>P</a:t>
            </a:r>
            <a:r>
              <a:rPr altLang="en-US" baseline="-25000" i="1" lang="en-US"/>
              <a:t>4</a:t>
            </a:r>
            <a:r>
              <a:rPr altLang="en-US" lang="en-US"/>
              <a:t>	</a:t>
            </a:r>
            <a:r>
              <a:rPr altLang="en-US" lang="en-US">
                <a:solidFill>
                  <a:schemeClr val="lt1"/>
                </a:solidFill>
              </a:rPr>
              <a:t>5.0</a:t>
            </a:r>
            <a:r>
              <a:rPr altLang="en-US" lang="en-US"/>
              <a:t>	3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endParaRPr altLang="en-US" lang="en-US"/>
          </a:p>
          <a:p>
            <a:pPr lvl="0"/>
            <a:r>
              <a:rPr altLang="en-US" lang="en-US"/>
              <a:t>SJF scheduling chart</a:t>
            </a:r>
          </a:p>
          <a:p>
            <a:pPr lvl="0"/>
            <a:endParaRPr altLang="en-US" lang="en-US"/>
          </a:p>
          <a:p>
            <a:pPr lvl="0"/>
            <a:endParaRPr altLang="en-US" lang="en-US"/>
          </a:p>
          <a:p>
            <a:pPr lvl="0"/>
            <a:endParaRPr altLang="en-US" lang="en-US"/>
          </a:p>
          <a:p>
            <a:pPr lvl="0">
              <a:buNone/>
            </a:pPr>
            <a:endParaRPr altLang="en-US" lang="en-US"/>
          </a:p>
          <a:p>
            <a:pPr lvl="0"/>
            <a:r>
              <a:rPr altLang="en-US" lang="en-US"/>
              <a:t>Average waiting time = (3 + 16 + 9 + 0) / 4 = 7</a:t>
            </a:r>
          </a:p>
        </p:txBody>
      </p:sp>
      <p:pic>
        <p:nvPicPr>
          <p:cNvPr id="2097159" name="Picture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287462" y="4076700"/>
            <a:ext cx="6796087" cy="8953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9" name="Rectangle 2"/>
          <p:cNvSpPr/>
          <p:nvPr>
            <p:ph type="title" sz="full" idx="0"/>
          </p:nvPr>
        </p:nvSpPr>
        <p:spPr>
          <a:xfrm rot="0">
            <a:off x="1279525" y="153987"/>
            <a:ext cx="7772400" cy="6111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Determining Length of Next CPU Burst</a:t>
            </a:r>
          </a:p>
        </p:txBody>
      </p:sp>
      <p:sp>
        <p:nvSpPr>
          <p:cNvPr id="1048660" name="Rectangle 3"/>
          <p:cNvSpPr/>
          <p:nvPr>
            <p:ph type="body" sz="full" idx="1"/>
          </p:nvPr>
        </p:nvSpPr>
        <p:spPr>
          <a:xfrm rot="0">
            <a:off x="1047750" y="1233487"/>
            <a:ext cx="7435850" cy="4935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Can only estimate the length – should be similar to the previous one</a:t>
            </a:r>
          </a:p>
          <a:p>
            <a:pPr lvl="1"/>
            <a:r>
              <a:rPr altLang="en-US" lang="en-US"/>
              <a:t>Then pick process with shortest predicted next CPU burst</a:t>
            </a:r>
          </a:p>
          <a:p>
            <a:pPr lvl="0"/>
            <a:endParaRPr altLang="en-US" lang="en-US"/>
          </a:p>
          <a:p>
            <a:pPr lvl="0"/>
            <a:r>
              <a:rPr altLang="en-US" lang="en-US"/>
              <a:t>Can be done by using the length of previous CPU bursts, using exponential averaging</a:t>
            </a:r>
          </a:p>
          <a:p>
            <a:pPr lvl="0"/>
            <a:endParaRPr altLang="en-US" lang="en-US"/>
          </a:p>
          <a:p>
            <a:pPr lvl="0"/>
            <a:endParaRPr altLang="en-US" lang="en-US"/>
          </a:p>
          <a:p>
            <a:pPr lvl="0"/>
            <a:endParaRPr altLang="en-US" lang="en-US"/>
          </a:p>
          <a:p>
            <a:pPr lvl="0">
              <a:buNone/>
            </a:pPr>
            <a:endParaRPr altLang="en-US" lang="en-US"/>
          </a:p>
          <a:p>
            <a:pPr lvl="0"/>
            <a:r>
              <a:rPr altLang="en-US" lang="en-US"/>
              <a:t>Commonly, </a:t>
            </a:r>
            <a:r>
              <a:rPr altLang="en-US" lang="en-US">
                <a:latin typeface="Lucida Grande" pitchFamily="0" charset="1"/>
              </a:rPr>
              <a:t>α </a:t>
            </a:r>
            <a:r>
              <a:rPr altLang="en-US" lang="en-US"/>
              <a:t>set to ½</a:t>
            </a:r>
          </a:p>
          <a:p>
            <a:pPr lvl="0"/>
            <a:r>
              <a:rPr altLang="en-US" lang="en-US"/>
              <a:t>Preemptive version called </a:t>
            </a:r>
            <a:r>
              <a:rPr altLang="en-US" b="1" lang="en-US">
                <a:solidFill>
                  <a:srgbClr val="3366FF"/>
                </a:solidFill>
              </a:rPr>
              <a:t>shortest-remaining-time-first</a:t>
            </a:r>
          </a:p>
          <a:p>
            <a:pPr lvl="1">
              <a:buNone/>
            </a:pPr>
            <a:endParaRPr altLang="en-US" lang="en-US"/>
          </a:p>
          <a:p>
            <a:pPr lvl="1">
              <a:buNone/>
            </a:pPr>
            <a:endParaRPr altLang="en-US" lang="en-US"/>
          </a:p>
        </p:txBody>
      </p:sp>
      <p:graphicFrame>
        <p:nvGraphicFramePr>
          <p:cNvPr id="4194304" name=""/>
          <p:cNvGraphicFramePr>
            <a:graphicFrameLocks/>
          </p:cNvGraphicFramePr>
          <p:nvPr/>
        </p:nvGraphicFramePr>
        <p:xfrm rot="0">
          <a:off x="1979612" y="3103562"/>
          <a:ext cx="442753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" spid="" imgH="1254125" imgW="4427537" showAsIcon="0" progId="Equation.3">
                  <p:embed followColorScheme="full"/>
                  <p:pic>
                    <p:nvPicPr>
                      <p:cNvPr id="2097160" name="Object 2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 l="0" t="0" r="0" b="0"/>
                      <a:stretch>
                        <a:fillRect/>
                      </a:stretch>
                    </p:blipFill>
                    <p:spPr>
                      <a:xfrm rot="0">
                        <a:off x="1979612" y="3103562"/>
                        <a:ext cx="4427537" cy="1254125"/>
                      </a:xfrm>
                      <a:prstGeom prst="rect"/>
                      <a:noFill/>
                      <a:ln>
                        <a:noFill/>
                      </a:ln>
                    </p:spPr>
                  </p:pic>
                </p:oleObj>
              </mc:Choice>
              <mc:Fallback>
                <p:oleObj name="Equation" r:id="rId1" spid="" imgH="1254125" imgW="4427537" showAsIcon="0" progId="Equation.3">
                  <p:embed followColorScheme="full"/>
                  <p:pic>
                    <p:nvPicPr>
                      <p:cNvPr id="2097160" name="Object 2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2"/>
                      <a:srcRect l="0" t="0" r="0" b="0"/>
                      <a:stretch>
                        <a:fillRect/>
                      </a:stretch>
                    </p:blipFill>
                    <p:spPr>
                      <a:xfrm rot="0">
                        <a:off x="1979612" y="3103562"/>
                        <a:ext cx="4427537" cy="1254125"/>
                      </a:xfrm>
                      <a:prstGeom prst="rect"/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05" name=""/>
          <p:cNvGraphicFramePr>
            <a:graphicFrameLocks/>
          </p:cNvGraphicFramePr>
          <p:nvPr/>
        </p:nvGraphicFramePr>
        <p:xfrm rot="0">
          <a:off x="3228975" y="4068762"/>
          <a:ext cx="22225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spid="" imgH="315912" imgW="2222500" showAsIcon="0" progId="Equation.3">
                  <p:embed followColorScheme="full"/>
                  <p:pic>
                    <p:nvPicPr>
                      <p:cNvPr id="2097161" name="Object 3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4"/>
                      <a:srcRect l="0" t="0" r="0" b="0"/>
                      <a:stretch>
                        <a:fillRect/>
                      </a:stretch>
                    </p:blipFill>
                    <p:spPr>
                      <a:xfrm rot="0">
                        <a:off x="3228975" y="4068762"/>
                        <a:ext cx="2222500" cy="315912"/>
                      </a:xfrm>
                      <a:prstGeom prst="rect"/>
                      <a:noFill/>
                      <a:ln>
                        <a:noFill/>
                      </a:ln>
                    </p:spPr>
                  </p:pic>
                </p:oleObj>
              </mc:Choice>
              <mc:Fallback>
                <p:oleObj name="Equation" r:id="rId3" spid="" imgH="315912" imgW="2222500" showAsIcon="0" progId="Equation.3">
                  <p:embed followColorScheme="full"/>
                  <p:pic>
                    <p:nvPicPr>
                      <p:cNvPr id="2097161" name="Object 3"/>
                      <p:cNvPicPr>
                        <a:picLocks/>
                      </p:cNvPicPr>
                      <p:nvPr/>
                    </p:nvPicPr>
                    <p:blipFill>
                      <a:blip xmlns:r="http://schemas.openxmlformats.org/officeDocument/2006/relationships" r:embed="rId4"/>
                      <a:srcRect l="0" t="0" r="0" b="0"/>
                      <a:stretch>
                        <a:fillRect/>
                      </a:stretch>
                    </p:blipFill>
                    <p:spPr>
                      <a:xfrm rot="0">
                        <a:off x="3228975" y="4068762"/>
                        <a:ext cx="2222500" cy="315912"/>
                      </a:xfrm>
                      <a:prstGeom prst="rect"/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4" name="Rectangle 2"/>
          <p:cNvSpPr/>
          <p:nvPr>
            <p:ph type="title" sz="full" idx="0"/>
          </p:nvPr>
        </p:nvSpPr>
        <p:spPr>
          <a:xfrm rot="0">
            <a:off x="950912" y="-17462"/>
            <a:ext cx="8223250" cy="6778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sz="2400" lang="en-US"/>
              <a:t>Prediction of the Length of the Next CPU Burst</a:t>
            </a:r>
          </a:p>
        </p:txBody>
      </p:sp>
      <p:pic>
        <p:nvPicPr>
          <p:cNvPr id="2097162" name="Picture 1" descr="6_03.pdf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841500" y="1282700"/>
            <a:ext cx="5387975" cy="43846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8" name="Rectangle 2"/>
          <p:cNvSpPr/>
          <p:nvPr>
            <p:ph type="title" sz="full" idx="0"/>
          </p:nvPr>
        </p:nvSpPr>
        <p:spPr>
          <a:xfrm rot="0">
            <a:off x="1362075" y="201612"/>
            <a:ext cx="7451725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Examples of Exponential Averaging</a:t>
            </a:r>
          </a:p>
        </p:txBody>
      </p:sp>
      <p:sp>
        <p:nvSpPr>
          <p:cNvPr id="1048669" name="Rectangle 3"/>
          <p:cNvSpPr/>
          <p:nvPr>
            <p:ph type="body" sz="full" idx="1"/>
          </p:nvPr>
        </p:nvSpPr>
        <p:spPr>
          <a:xfrm rot="0">
            <a:off x="908050" y="1233487"/>
            <a:ext cx="72453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>
              <a:lnSpc>
                <a:spcPct val="90000"/>
              </a:lnSpc>
            </a:pPr>
            <a:r>
              <a:rPr altLang="en-US" lang="en-US">
                <a:sym typeface="Symbol" pitchFamily="18" charset="2"/>
              </a:rPr>
              <a:t> =0</a:t>
            </a:r>
          </a:p>
          <a:p>
            <a:pPr lvl="1">
              <a:lnSpc>
                <a:spcPct val="90000"/>
              </a:lnSpc>
            </a:pPr>
            <a:r>
              <a:rPr altLang="en-US" lang="en-US">
                <a:sym typeface="Symbol" pitchFamily="18" charset="2"/>
              </a:rPr>
              <a:t></a:t>
            </a:r>
            <a:r>
              <a:rPr altLang="en-US" baseline="-25000" lang="en-US">
                <a:sym typeface="Symbol" pitchFamily="18" charset="2"/>
              </a:rPr>
              <a:t>n+1</a:t>
            </a:r>
            <a:r>
              <a:rPr altLang="en-US" lang="en-US">
                <a:sym typeface="Symbol" pitchFamily="18" charset="2"/>
              </a:rPr>
              <a:t> = </a:t>
            </a:r>
            <a:r>
              <a:rPr altLang="en-US" baseline="-25000" lang="en-US">
                <a:sym typeface="Symbol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altLang="en-US" lang="en-US">
                <a:sym typeface="Symbol" pitchFamily="18" charset="2"/>
              </a:rPr>
              <a:t>Recent history does not count</a:t>
            </a:r>
          </a:p>
          <a:p>
            <a:pPr lvl="0">
              <a:lnSpc>
                <a:spcPct val="90000"/>
              </a:lnSpc>
            </a:pPr>
            <a:r>
              <a:rPr altLang="en-US" lang="en-US">
                <a:sym typeface="Symbol" pitchFamily="18" charset="2"/>
              </a:rPr>
              <a:t> =1</a:t>
            </a:r>
          </a:p>
          <a:p>
            <a:pPr lvl="1">
              <a:lnSpc>
                <a:spcPct val="90000"/>
              </a:lnSpc>
            </a:pPr>
            <a:r>
              <a:rPr altLang="en-US" lang="en-US">
                <a:sym typeface="Symbol" pitchFamily="18" charset="2"/>
              </a:rPr>
              <a:t> </a:t>
            </a:r>
            <a:r>
              <a:rPr altLang="en-US" baseline="-25000" lang="en-US">
                <a:sym typeface="Symbol" pitchFamily="18" charset="2"/>
              </a:rPr>
              <a:t>n+1</a:t>
            </a:r>
            <a:r>
              <a:rPr altLang="en-US" lang="en-US">
                <a:sym typeface="Symbol" pitchFamily="18" charset="2"/>
              </a:rPr>
              <a:t> =  </a:t>
            </a:r>
            <a:r>
              <a:rPr altLang="en-US" i="1" lang="en-US">
                <a:sym typeface="Symbol" pitchFamily="18" charset="2"/>
              </a:rPr>
              <a:t>t</a:t>
            </a:r>
            <a:r>
              <a:rPr altLang="en-US" baseline="-25000" lang="en-US">
                <a:sym typeface="Symbol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altLang="en-US" lang="en-US">
                <a:sym typeface="Symbol" pitchFamily="18" charset="2"/>
              </a:rPr>
              <a:t>Only the actual last CPU burst counts</a:t>
            </a:r>
          </a:p>
          <a:p>
            <a:pPr lvl="0">
              <a:lnSpc>
                <a:spcPct val="90000"/>
              </a:lnSpc>
            </a:pPr>
            <a:r>
              <a:rPr altLang="en-US" lang="en-US">
                <a:sym typeface="Symbol" pitchFamily="18" charset="2"/>
              </a:rPr>
              <a:t>If we expand the formula, we get:</a:t>
            </a:r>
          </a:p>
          <a:p>
            <a:pPr lvl="2">
              <a:lnSpc>
                <a:spcPct val="90000"/>
              </a:lnSpc>
              <a:buNone/>
            </a:pPr>
            <a:r>
              <a:rPr altLang="en-US" lang="en-US">
                <a:sym typeface="Symbol" pitchFamily="18" charset="2"/>
              </a:rPr>
              <a:t></a:t>
            </a:r>
            <a:r>
              <a:rPr altLang="en-US" baseline="-25000" i="1" lang="en-US">
                <a:sym typeface="Symbol" pitchFamily="18" charset="2"/>
              </a:rPr>
              <a:t>n</a:t>
            </a:r>
            <a:r>
              <a:rPr altLang="en-US" baseline="-25000" lang="en-US">
                <a:sym typeface="Symbol" pitchFamily="18" charset="2"/>
              </a:rPr>
              <a:t>+1</a:t>
            </a:r>
            <a:r>
              <a:rPr altLang="en-US" lang="en-US">
                <a:sym typeface="Symbol" pitchFamily="18" charset="2"/>
              </a:rPr>
              <a:t> =  t</a:t>
            </a:r>
            <a:r>
              <a:rPr altLang="en-US" baseline="-25000" i="1" lang="en-US">
                <a:sym typeface="Symbol" pitchFamily="18" charset="2"/>
              </a:rPr>
              <a:t>n</a:t>
            </a:r>
            <a:r>
              <a:rPr altLang="en-US" lang="en-US">
                <a:sym typeface="Symbol" pitchFamily="18" charset="2"/>
              </a:rPr>
              <a:t>+(1</a:t>
            </a:r>
            <a:r>
              <a:rPr altLang="en-US" i="1" lang="en-US">
                <a:sym typeface="Symbol" pitchFamily="18" charset="2"/>
              </a:rPr>
              <a:t> - </a:t>
            </a:r>
            <a:r>
              <a:rPr altLang="en-US" lang="en-US">
                <a:sym typeface="Symbol" pitchFamily="18" charset="2"/>
              </a:rPr>
              <a:t></a:t>
            </a:r>
            <a:r>
              <a:rPr altLang="en-US" i="1" lang="en-US">
                <a:sym typeface="Symbol" pitchFamily="18" charset="2"/>
              </a:rPr>
              <a:t>)</a:t>
            </a:r>
            <a:r>
              <a:rPr altLang="en-US" lang="en-US">
                <a:sym typeface="Symbol" pitchFamily="18" charset="2"/>
              </a:rPr>
              <a:t> </a:t>
            </a:r>
            <a:r>
              <a:rPr altLang="en-US" i="1" lang="en-US">
                <a:sym typeface="Symbol" pitchFamily="18" charset="2"/>
              </a:rPr>
              <a:t>t</a:t>
            </a:r>
            <a:r>
              <a:rPr altLang="en-US" baseline="-25000" i="1" lang="en-US">
                <a:sym typeface="Symbol" pitchFamily="18" charset="2"/>
              </a:rPr>
              <a:t>n</a:t>
            </a:r>
            <a:r>
              <a:rPr altLang="en-US" i="1" lang="en-US">
                <a:sym typeface="Symbol" pitchFamily="18" charset="2"/>
              </a:rPr>
              <a:t> </a:t>
            </a:r>
            <a:r>
              <a:rPr altLang="en-US" baseline="-25000" lang="en-US">
                <a:sym typeface="Symbol" pitchFamily="18" charset="2"/>
              </a:rPr>
              <a:t>-1</a:t>
            </a:r>
            <a:r>
              <a:rPr altLang="en-US" baseline="-25000" i="1" lang="en-US">
                <a:sym typeface="Symbol" pitchFamily="18" charset="2"/>
              </a:rPr>
              <a:t> </a:t>
            </a:r>
            <a:r>
              <a:rPr altLang="en-US" lang="en-US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None/>
            </a:pPr>
            <a:r>
              <a:rPr altLang="en-US" lang="en-US">
                <a:sym typeface="Symbol" pitchFamily="18" charset="2"/>
              </a:rPr>
              <a:t>            </a:t>
            </a:r>
            <a:r>
              <a:rPr altLang="en-US" i="1" lang="en-US">
                <a:sym typeface="Symbol" pitchFamily="18" charset="2"/>
              </a:rPr>
              <a:t>+(</a:t>
            </a:r>
            <a:r>
              <a:rPr altLang="en-US" lang="en-US">
                <a:sym typeface="Symbol" pitchFamily="18" charset="2"/>
              </a:rPr>
              <a:t>1 -  </a:t>
            </a:r>
            <a:r>
              <a:rPr altLang="en-US" i="1" lang="en-US">
                <a:sym typeface="Symbol" pitchFamily="18" charset="2"/>
              </a:rPr>
              <a:t>)</a:t>
            </a:r>
            <a:r>
              <a:rPr altLang="en-US" baseline="30000" i="1" lang="en-US">
                <a:sym typeface="Symbol" pitchFamily="18" charset="2"/>
              </a:rPr>
              <a:t>j</a:t>
            </a:r>
            <a:r>
              <a:rPr altLang="en-US" baseline="30000" lang="en-US">
                <a:sym typeface="Symbol" pitchFamily="18" charset="2"/>
              </a:rPr>
              <a:t> </a:t>
            </a:r>
            <a:r>
              <a:rPr altLang="en-US" lang="en-US">
                <a:sym typeface="Symbol" pitchFamily="18" charset="2"/>
              </a:rPr>
              <a:t> </a:t>
            </a:r>
            <a:r>
              <a:rPr altLang="en-US" i="1" lang="en-US">
                <a:sym typeface="Symbol" pitchFamily="18" charset="2"/>
              </a:rPr>
              <a:t>t</a:t>
            </a:r>
            <a:r>
              <a:rPr altLang="en-US" baseline="-25000" i="1" lang="en-US">
                <a:sym typeface="Symbol" pitchFamily="18" charset="2"/>
              </a:rPr>
              <a:t>n</a:t>
            </a:r>
            <a:r>
              <a:rPr altLang="en-US" lang="en-US">
                <a:sym typeface="Symbol" pitchFamily="18" charset="2"/>
              </a:rPr>
              <a:t> </a:t>
            </a:r>
            <a:r>
              <a:rPr altLang="en-US" baseline="-25000" lang="en-US">
                <a:sym typeface="Symbol" pitchFamily="18" charset="2"/>
              </a:rPr>
              <a:t>-</a:t>
            </a:r>
            <a:r>
              <a:rPr altLang="en-US" baseline="-25000" i="1" lang="en-US">
                <a:sym typeface="Symbol" pitchFamily="18" charset="2"/>
              </a:rPr>
              <a:t>j</a:t>
            </a:r>
            <a:r>
              <a:rPr altLang="en-US" i="1" lang="en-US">
                <a:sym typeface="Symbol" pitchFamily="18" charset="2"/>
              </a:rPr>
              <a:t> </a:t>
            </a:r>
            <a:r>
              <a:rPr altLang="en-US" lang="en-US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None/>
            </a:pPr>
            <a:r>
              <a:rPr altLang="en-US" lang="en-US">
                <a:sym typeface="Symbol" pitchFamily="18" charset="2"/>
              </a:rPr>
              <a:t>            </a:t>
            </a:r>
            <a:r>
              <a:rPr altLang="en-US" i="1" lang="en-US">
                <a:sym typeface="Symbol" pitchFamily="18" charset="2"/>
              </a:rPr>
              <a:t>+(</a:t>
            </a:r>
            <a:r>
              <a:rPr altLang="en-US" lang="en-US">
                <a:sym typeface="Symbol" pitchFamily="18" charset="2"/>
              </a:rPr>
              <a:t>1 -  </a:t>
            </a:r>
            <a:r>
              <a:rPr altLang="en-US" i="1" lang="en-US">
                <a:sym typeface="Symbol" pitchFamily="18" charset="2"/>
              </a:rPr>
              <a:t>)</a:t>
            </a:r>
            <a:r>
              <a:rPr altLang="en-US" baseline="30000" i="1" lang="en-US">
                <a:sym typeface="Symbol" pitchFamily="18" charset="2"/>
              </a:rPr>
              <a:t>n</a:t>
            </a:r>
            <a:r>
              <a:rPr altLang="en-US" baseline="30000" lang="en-US">
                <a:sym typeface="Symbol" pitchFamily="18" charset="2"/>
              </a:rPr>
              <a:t> +1 </a:t>
            </a:r>
            <a:r>
              <a:rPr altLang="en-US" lang="en-US">
                <a:sym typeface="Symbol" pitchFamily="18" charset="2"/>
              </a:rPr>
              <a:t></a:t>
            </a:r>
            <a:r>
              <a:rPr altLang="en-US" baseline="-25000" lang="en-US">
                <a:sym typeface="Symbol" pitchFamily="18" charset="2"/>
              </a:rPr>
              <a:t>0</a:t>
            </a:r>
            <a:br>
              <a:rPr altLang="en-US" baseline="-25000" lang="en-US">
                <a:sym typeface="Symbol" pitchFamily="18" charset="2"/>
              </a:rPr>
            </a:br>
            <a:endParaRPr altLang="en-US" baseline="-25000" lang="en-US">
              <a:sym typeface="Symbol" pitchFamily="18" charset="2"/>
            </a:endParaRPr>
          </a:p>
          <a:p>
            <a:pPr lvl="0">
              <a:lnSpc>
                <a:spcPct val="90000"/>
              </a:lnSpc>
            </a:pPr>
            <a:r>
              <a:rPr altLang="en-US" lang="en-US">
                <a:sym typeface="Symbol" pitchFamily="18" charset="2"/>
              </a:rPr>
              <a:t>Since both  and (1 - ) are less than or equal to 1, each successive term has less weight than its predecessor</a:t>
            </a:r>
          </a:p>
          <a:p>
            <a:pPr lvl="0">
              <a:lnSpc>
                <a:spcPct val="90000"/>
              </a:lnSpc>
              <a:buNone/>
            </a:pPr>
            <a:endParaRPr altLang="en-US" lang="en-US">
              <a:sym typeface="Symbol" pitchFamily="18" charset="2"/>
            </a:endParaRPr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3" name="Rectangle 2"/>
          <p:cNvSpPr/>
          <p:nvPr>
            <p:ph type="title" sz="full" idx="0"/>
          </p:nvPr>
        </p:nvSpPr>
        <p:spPr>
          <a:xfrm rot="0">
            <a:off x="1092200" y="277812"/>
            <a:ext cx="7594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sz="2800" lang="en-US"/>
              <a:t>Example of Shortest-remaining-time-first</a:t>
            </a:r>
          </a:p>
        </p:txBody>
      </p:sp>
      <p:sp>
        <p:nvSpPr>
          <p:cNvPr id="1048674" name="Rectangle 36"/>
          <p:cNvSpPr/>
          <p:nvPr>
            <p:ph type="body" sz="full" idx="1"/>
          </p:nvPr>
        </p:nvSpPr>
        <p:spPr>
          <a:xfrm rot="0">
            <a:off x="1073150" y="1233487"/>
            <a:ext cx="76009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Now we add the concepts of varying arrival times and preemption to the analysis</a:t>
            </a:r>
          </a:p>
          <a:p>
            <a:pPr lvl="0">
              <a:buNone/>
            </a:pPr>
            <a:r>
              <a:rPr altLang="en-US" lang="en-US"/>
              <a:t>		         </a:t>
            </a:r>
            <a:r>
              <a:rPr altLang="en-US" lang="en-US" u="sng"/>
              <a:t>Process</a:t>
            </a:r>
            <a:r>
              <a:rPr altLang="en-US" lang="en-US" u="sng">
                <a:solidFill>
                  <a:schemeClr val="lt1"/>
                </a:solidFill>
              </a:rPr>
              <a:t>A	arri </a:t>
            </a:r>
            <a:r>
              <a:rPr altLang="en-US" i="1" lang="en-US" u="sng"/>
              <a:t>Arrival </a:t>
            </a:r>
            <a:r>
              <a:rPr altLang="en-US" lang="en-US" u="sng"/>
              <a:t>Time</a:t>
            </a:r>
            <a:r>
              <a:rPr altLang="en-US" lang="en-US" u="sng">
                <a:solidFill>
                  <a:schemeClr val="lt1"/>
                </a:solidFill>
              </a:rPr>
              <a:t>T</a:t>
            </a:r>
            <a:r>
              <a:rPr altLang="en-US" lang="en-US"/>
              <a:t>	</a:t>
            </a:r>
            <a:r>
              <a:rPr altLang="en-US" lang="en-US" u="sng"/>
              <a:t>Burst Time</a:t>
            </a:r>
          </a:p>
          <a:p>
            <a:pPr lvl="0">
              <a:buNone/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1</a:t>
            </a:r>
            <a:r>
              <a:rPr altLang="en-US" lang="en-US"/>
              <a:t>	</a:t>
            </a:r>
            <a:r>
              <a:rPr altLang="en-US" lang="en-US">
                <a:solidFill>
                  <a:srgbClr val="000000"/>
                </a:solidFill>
              </a:rPr>
              <a:t>0</a:t>
            </a:r>
            <a:r>
              <a:rPr altLang="en-US" lang="en-US"/>
              <a:t>	8</a:t>
            </a:r>
          </a:p>
          <a:p>
            <a:pPr lvl="0">
              <a:buNone/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2 	</a:t>
            </a:r>
            <a:r>
              <a:rPr altLang="en-US" lang="en-US">
                <a:solidFill>
                  <a:srgbClr val="000000"/>
                </a:solidFill>
              </a:rPr>
              <a:t>1</a:t>
            </a:r>
            <a:r>
              <a:rPr altLang="en-US" lang="en-US"/>
              <a:t>	4</a:t>
            </a:r>
          </a:p>
          <a:p>
            <a:pPr lvl="0">
              <a:buNone/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3</a:t>
            </a:r>
            <a:r>
              <a:rPr altLang="en-US" lang="en-US"/>
              <a:t>	</a:t>
            </a:r>
            <a:r>
              <a:rPr altLang="en-US" lang="en-US">
                <a:solidFill>
                  <a:srgbClr val="000000"/>
                </a:solidFill>
              </a:rPr>
              <a:t>2</a:t>
            </a:r>
            <a:r>
              <a:rPr altLang="en-US" lang="en-US"/>
              <a:t>	9</a:t>
            </a:r>
          </a:p>
          <a:p>
            <a:pPr lvl="0">
              <a:buNone/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4</a:t>
            </a:r>
            <a:r>
              <a:rPr altLang="en-US" lang="en-US"/>
              <a:t>	</a:t>
            </a:r>
            <a:r>
              <a:rPr altLang="en-US" lang="en-US">
                <a:solidFill>
                  <a:srgbClr val="000000"/>
                </a:solidFill>
              </a:rPr>
              <a:t>3</a:t>
            </a:r>
            <a:r>
              <a:rPr altLang="en-US" lang="en-US"/>
              <a:t>	5</a:t>
            </a:r>
          </a:p>
          <a:p>
            <a:pPr lvl="0"/>
            <a:r>
              <a:rPr altLang="en-US" i="1" lang="en-US"/>
              <a:t>Preemptive </a:t>
            </a:r>
            <a:r>
              <a:rPr altLang="en-US" lang="en-US"/>
              <a:t>SJF Gantt Chart</a:t>
            </a:r>
          </a:p>
          <a:p>
            <a:pPr lvl="0"/>
            <a:endParaRPr altLang="en-US" lang="en-US"/>
          </a:p>
          <a:p>
            <a:pPr lvl="0"/>
            <a:endParaRPr altLang="en-US" lang="en-US"/>
          </a:p>
          <a:p>
            <a:pPr lvl="0">
              <a:buNone/>
            </a:pPr>
            <a:endParaRPr altLang="en-US" lang="en-US"/>
          </a:p>
          <a:p>
            <a:pPr lvl="0"/>
            <a:r>
              <a:rPr altLang="en-US" lang="en-US"/>
              <a:t>Average waiting time = [(10-1)+(1-1)+(17-2)+5-3)]/4 = 26/4 = 6.5 msec</a:t>
            </a:r>
          </a:p>
          <a:p>
            <a:pPr lvl="0"/>
            <a:endParaRPr altLang="en-US" baseline="-25000" i="1" lang="en-US"/>
          </a:p>
          <a:p>
            <a:pPr lvl="0">
              <a:buNone/>
            </a:pPr>
            <a:endParaRPr altLang="en-US" baseline="-25000" i="1" lang="en-US"/>
          </a:p>
        </p:txBody>
      </p:sp>
      <p:pic>
        <p:nvPicPr>
          <p:cNvPr id="2097163" name="Picture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446212" y="4284662"/>
            <a:ext cx="6535737" cy="8001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8" name="Rectangle 2"/>
          <p:cNvSpPr/>
          <p:nvPr>
            <p:ph type="title" sz="full" idx="0"/>
          </p:nvPr>
        </p:nvSpPr>
        <p:spPr>
          <a:xfrm rot="0">
            <a:off x="963612" y="201612"/>
            <a:ext cx="7723187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Priority Scheduling</a:t>
            </a:r>
          </a:p>
        </p:txBody>
      </p:sp>
      <p:sp>
        <p:nvSpPr>
          <p:cNvPr id="1048679" name="Rectangle 3"/>
          <p:cNvSpPr/>
          <p:nvPr>
            <p:ph type="body" sz="full" idx="1"/>
          </p:nvPr>
        </p:nvSpPr>
        <p:spPr>
          <a:xfrm rot="0">
            <a:off x="882650" y="1233487"/>
            <a:ext cx="7423150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A priority number (integer) is associated with each process</a:t>
            </a:r>
          </a:p>
          <a:p>
            <a:pPr lvl="0"/>
            <a:endParaRPr altLang="en-US" sz="800" lang="en-US"/>
          </a:p>
          <a:p>
            <a:pPr lvl="0"/>
            <a:r>
              <a:rPr altLang="en-US" lang="en-US"/>
              <a:t>The CPU is allocated to the process with the highest priority (smallest integer </a:t>
            </a:r>
            <a:r>
              <a:rPr altLang="en-US" lang="en-US">
                <a:sym typeface="Symbol" pitchFamily="18" charset="2"/>
              </a:rPr>
              <a:t> highest priority)</a:t>
            </a:r>
          </a:p>
          <a:p>
            <a:pPr lvl="1"/>
            <a:r>
              <a:rPr altLang="en-US" lang="en-US"/>
              <a:t>Preemptive</a:t>
            </a:r>
          </a:p>
          <a:p>
            <a:pPr lvl="1"/>
            <a:r>
              <a:rPr altLang="en-US" lang="en-US"/>
              <a:t>Nonpreemptive</a:t>
            </a:r>
          </a:p>
          <a:p>
            <a:pPr lvl="1"/>
            <a:endParaRPr altLang="en-US" sz="800" lang="en-US"/>
          </a:p>
          <a:p>
            <a:pPr lvl="0"/>
            <a:r>
              <a:rPr altLang="en-US" lang="en-US"/>
              <a:t>SJF is priority scheduling where priority is the inverse of predicted next CPU burst time</a:t>
            </a:r>
          </a:p>
          <a:p>
            <a:pPr lvl="0"/>
            <a:endParaRPr altLang="en-US" sz="800" lang="en-US"/>
          </a:p>
          <a:p>
            <a:pPr lvl="0"/>
            <a:r>
              <a:rPr altLang="en-US" lang="en-US"/>
              <a:t>Problem </a:t>
            </a:r>
            <a:r>
              <a:rPr altLang="en-US" lang="en-US">
                <a:sym typeface="Symbol" pitchFamily="18" charset="2"/>
              </a:rPr>
              <a:t> </a:t>
            </a:r>
            <a:r>
              <a:rPr altLang="en-US" b="1" lang="en-US">
                <a:solidFill>
                  <a:srgbClr val="3366FF"/>
                </a:solidFill>
                <a:sym typeface="Symbol" pitchFamily="18" charset="2"/>
              </a:rPr>
              <a:t>Starvation</a:t>
            </a:r>
            <a:r>
              <a:rPr altLang="en-US" b="1" lang="en-US">
                <a:sym typeface="Symbol" pitchFamily="18" charset="2"/>
              </a:rPr>
              <a:t> </a:t>
            </a:r>
            <a:r>
              <a:rPr altLang="en-US" lang="en-US">
                <a:sym typeface="Symbol" pitchFamily="18" charset="2"/>
              </a:rPr>
              <a:t>– low priority processes may never execute</a:t>
            </a:r>
          </a:p>
          <a:p>
            <a:pPr lvl="0"/>
            <a:endParaRPr altLang="en-US" sz="800" lang="en-US">
              <a:sym typeface="Symbol" pitchFamily="18" charset="2"/>
            </a:endParaRPr>
          </a:p>
          <a:p>
            <a:pPr lvl="0"/>
            <a:r>
              <a:rPr altLang="en-US" lang="en-US">
                <a:sym typeface="Symbol" pitchFamily="18" charset="2"/>
              </a:rPr>
              <a:t>Solution  </a:t>
            </a:r>
            <a:r>
              <a:rPr altLang="en-US" b="1" lang="en-US">
                <a:solidFill>
                  <a:srgbClr val="3366FF"/>
                </a:solidFill>
                <a:sym typeface="Symbol" pitchFamily="18" charset="2"/>
              </a:rPr>
              <a:t>Aging</a:t>
            </a:r>
            <a:r>
              <a:rPr altLang="en-US" b="1" lang="en-US">
                <a:sym typeface="Symbol" pitchFamily="18" charset="2"/>
              </a:rPr>
              <a:t> </a:t>
            </a:r>
            <a:r>
              <a:rPr altLang="en-US" lang="en-US">
                <a:sym typeface="Symbol" pitchFamily="18" charset="2"/>
              </a:rPr>
              <a:t>– as time progresses increase the priority of the process</a:t>
            </a:r>
          </a:p>
          <a:p>
            <a:pPr lvl="0">
              <a:buNone/>
            </a:pPr>
            <a:endParaRPr altLang="en-US" b="1" lang="en-US">
              <a:solidFill>
                <a:srgbClr val="3366FF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3" name="Rectangle 2"/>
          <p:cNvSpPr/>
          <p:nvPr>
            <p:ph type="title" sz="full" idx="0"/>
          </p:nvPr>
        </p:nvSpPr>
        <p:spPr>
          <a:xfrm rot="0">
            <a:off x="1406525" y="201612"/>
            <a:ext cx="7280275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Example of Priority Scheduling</a:t>
            </a:r>
          </a:p>
        </p:txBody>
      </p:sp>
      <p:sp>
        <p:nvSpPr>
          <p:cNvPr id="1048684" name="Rectangle 36"/>
          <p:cNvSpPr/>
          <p:nvPr>
            <p:ph type="body" sz="full" idx="1"/>
          </p:nvPr>
        </p:nvSpPr>
        <p:spPr>
          <a:xfrm rot="0">
            <a:off x="806450" y="1233487"/>
            <a:ext cx="8337550" cy="48879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        </a:t>
            </a:r>
            <a:r>
              <a:rPr altLang="en-US" lang="en-US" u="sng"/>
              <a:t>Process</a:t>
            </a:r>
            <a:r>
              <a:rPr altLang="en-US" lang="en-US" u="sng">
                <a:solidFill>
                  <a:schemeClr val="lt1"/>
                </a:solidFill>
              </a:rPr>
              <a:t>A	arri </a:t>
            </a:r>
            <a:r>
              <a:rPr altLang="en-US" lang="en-US" u="sng"/>
              <a:t>Burst Time</a:t>
            </a:r>
            <a:r>
              <a:rPr altLang="en-US" lang="en-US" u="sng">
                <a:solidFill>
                  <a:schemeClr val="lt1"/>
                </a:solidFill>
              </a:rPr>
              <a:t>T</a:t>
            </a:r>
            <a:r>
              <a:rPr altLang="en-US" lang="en-US"/>
              <a:t>	</a:t>
            </a:r>
            <a:r>
              <a:rPr altLang="en-US" lang="en-US" u="sng"/>
              <a:t>Priority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1</a:t>
            </a:r>
            <a:r>
              <a:rPr altLang="en-US" lang="en-US"/>
              <a:t>	1</a:t>
            </a:r>
            <a:r>
              <a:rPr altLang="en-US" lang="en-US">
                <a:solidFill>
                  <a:srgbClr val="000000"/>
                </a:solidFill>
              </a:rPr>
              <a:t>0</a:t>
            </a:r>
            <a:r>
              <a:rPr altLang="en-US" lang="en-US"/>
              <a:t>	3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2 	</a:t>
            </a:r>
            <a:r>
              <a:rPr altLang="en-US" lang="en-US">
                <a:solidFill>
                  <a:srgbClr val="000000"/>
                </a:solidFill>
              </a:rPr>
              <a:t>1</a:t>
            </a:r>
            <a:r>
              <a:rPr altLang="en-US" lang="en-US"/>
              <a:t>	1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3</a:t>
            </a:r>
            <a:r>
              <a:rPr altLang="en-US" lang="en-US"/>
              <a:t>	</a:t>
            </a:r>
            <a:r>
              <a:rPr altLang="en-US" lang="en-US">
                <a:solidFill>
                  <a:srgbClr val="000000"/>
                </a:solidFill>
              </a:rPr>
              <a:t>2</a:t>
            </a:r>
            <a:r>
              <a:rPr altLang="en-US" lang="en-US"/>
              <a:t>	4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4</a:t>
            </a:r>
            <a:r>
              <a:rPr altLang="en-US" lang="en-US"/>
              <a:t>	</a:t>
            </a:r>
            <a:r>
              <a:rPr altLang="en-US" lang="en-US">
                <a:solidFill>
                  <a:srgbClr val="000000"/>
                </a:solidFill>
              </a:rPr>
              <a:t>1</a:t>
            </a:r>
            <a:r>
              <a:rPr altLang="en-US" lang="en-US"/>
              <a:t>	5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r>
              <a:rPr altLang="en-US" lang="en-US"/>
              <a:t>		</a:t>
            </a:r>
            <a:r>
              <a:rPr altLang="en-US" i="1" lang="en-US"/>
              <a:t>P</a:t>
            </a:r>
            <a:r>
              <a:rPr altLang="en-US" baseline="-25000" i="1" lang="en-US"/>
              <a:t>5	</a:t>
            </a:r>
            <a:r>
              <a:rPr altLang="en-US" lang="en-US"/>
              <a:t>5	2</a:t>
            </a:r>
          </a:p>
          <a:p>
            <a:pPr lvl="0">
              <a:buNone/>
              <a:tabLst>
                <a:tab algn="ctr" pos="1600200"/>
                <a:tab algn="ctr" pos="3251200"/>
                <a:tab algn="ctr" pos="5140325"/>
              </a:tabLst>
            </a:pPr>
            <a:endParaRPr altLang="en-US" baseline="-25000" lang="en-US"/>
          </a:p>
          <a:p>
            <a:pPr lvl="0"/>
            <a:r>
              <a:rPr altLang="en-US" lang="en-US"/>
              <a:t>Priority scheduling Gantt Chart</a:t>
            </a:r>
          </a:p>
          <a:p>
            <a:pPr lvl="0"/>
            <a:endParaRPr altLang="en-US" lang="en-US"/>
          </a:p>
          <a:p>
            <a:pPr lvl="0"/>
            <a:endParaRPr altLang="en-US" lang="en-US"/>
          </a:p>
          <a:p>
            <a:pPr lvl="0"/>
            <a:endParaRPr altLang="en-US" lang="en-US"/>
          </a:p>
          <a:p>
            <a:pPr lvl="0">
              <a:buNone/>
            </a:pPr>
            <a:endParaRPr altLang="en-US" lang="en-US"/>
          </a:p>
          <a:p>
            <a:pPr lvl="0"/>
            <a:r>
              <a:rPr altLang="en-US" lang="en-US"/>
              <a:t>Average waiting time = 8.2 msec</a:t>
            </a:r>
          </a:p>
        </p:txBody>
      </p:sp>
      <p:pic>
        <p:nvPicPr>
          <p:cNvPr id="2097164" name="Picture 5" descr="C:\Users\as668\Desktop\in-5_6.jpg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349375" y="4318000"/>
            <a:ext cx="6318250" cy="8445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4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8" name="Rectangle 2"/>
          <p:cNvSpPr/>
          <p:nvPr>
            <p:ph type="title" sz="full" idx="0"/>
          </p:nvPr>
        </p:nvSpPr>
        <p:spPr>
          <a:xfrm rot="0">
            <a:off x="457200" y="176212"/>
            <a:ext cx="82296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Round Robin (RR)</a:t>
            </a:r>
          </a:p>
        </p:txBody>
      </p:sp>
      <p:sp>
        <p:nvSpPr>
          <p:cNvPr id="1048689" name="Rectangle 3"/>
          <p:cNvSpPr/>
          <p:nvPr>
            <p:ph type="body" sz="full" idx="1"/>
          </p:nvPr>
        </p:nvSpPr>
        <p:spPr>
          <a:xfrm rot="0">
            <a:off x="889000" y="1231900"/>
            <a:ext cx="7150100" cy="44831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Each process gets a small unit of CPU time (</a:t>
            </a:r>
            <a:r>
              <a:rPr altLang="en-US" b="1" lang="en-US">
                <a:solidFill>
                  <a:srgbClr val="3366FF"/>
                </a:solidFill>
              </a:rPr>
              <a:t>time</a:t>
            </a:r>
            <a:r>
              <a:rPr altLang="en-US" b="1" lang="en-US"/>
              <a:t> </a:t>
            </a:r>
            <a:r>
              <a:rPr altLang="en-US" b="1" lang="en-US">
                <a:solidFill>
                  <a:srgbClr val="3366FF"/>
                </a:solidFill>
              </a:rPr>
              <a:t>quantum</a:t>
            </a:r>
            <a:r>
              <a:rPr altLang="en-US" b="1" lang="en-US"/>
              <a:t> </a:t>
            </a:r>
            <a:r>
              <a:rPr altLang="en-US" i="1" lang="en-US"/>
              <a:t>q</a:t>
            </a:r>
            <a:r>
              <a:rPr altLang="en-US" lang="en-US"/>
              <a:t>), usually 10-100 milliseconds.  After this time has elapsed, the process is preempted and added to the end of the ready queue.</a:t>
            </a:r>
          </a:p>
          <a:p>
            <a:pPr lvl="0"/>
            <a:r>
              <a:rPr altLang="en-US" lang="en-US"/>
              <a:t>If there are </a:t>
            </a:r>
            <a:r>
              <a:rPr altLang="en-US" i="1" lang="en-US"/>
              <a:t>n</a:t>
            </a:r>
            <a:r>
              <a:rPr altLang="en-US" lang="en-US"/>
              <a:t> processes in the ready queue and the time quantum is </a:t>
            </a:r>
            <a:r>
              <a:rPr altLang="en-US" i="1" lang="en-US"/>
              <a:t>q</a:t>
            </a:r>
            <a:r>
              <a:rPr altLang="en-US" lang="en-US"/>
              <a:t>, then each process gets 1/</a:t>
            </a:r>
            <a:r>
              <a:rPr altLang="en-US" i="1" lang="en-US"/>
              <a:t>n</a:t>
            </a:r>
            <a:r>
              <a:rPr altLang="en-US" lang="en-US"/>
              <a:t> of the CPU time in chunks of at most </a:t>
            </a:r>
            <a:r>
              <a:rPr altLang="en-US" i="1" lang="en-US"/>
              <a:t>q</a:t>
            </a:r>
            <a:r>
              <a:rPr altLang="en-US" lang="en-US"/>
              <a:t> time units at once.  No process waits more than (</a:t>
            </a:r>
            <a:r>
              <a:rPr altLang="en-US" i="1" lang="en-US"/>
              <a:t>n</a:t>
            </a:r>
            <a:r>
              <a:rPr altLang="en-US" lang="en-US"/>
              <a:t>-1)</a:t>
            </a:r>
            <a:r>
              <a:rPr altLang="en-US" i="1" lang="en-US"/>
              <a:t>q </a:t>
            </a:r>
            <a:r>
              <a:rPr altLang="en-US" lang="en-US"/>
              <a:t>time units.</a:t>
            </a:r>
          </a:p>
          <a:p>
            <a:pPr lvl="0"/>
            <a:r>
              <a:rPr altLang="en-US" lang="en-US"/>
              <a:t>Timer interrupts every quantum to schedule next process</a:t>
            </a:r>
          </a:p>
          <a:p>
            <a:pPr lvl="0"/>
            <a:r>
              <a:rPr altLang="en-US" lang="en-US"/>
              <a:t>Performance</a:t>
            </a:r>
          </a:p>
          <a:p>
            <a:pPr lvl="1"/>
            <a:r>
              <a:rPr altLang="en-US" i="1" lang="en-US"/>
              <a:t>q</a:t>
            </a:r>
            <a:r>
              <a:rPr altLang="en-US" lang="en-US"/>
              <a:t> large </a:t>
            </a:r>
            <a:r>
              <a:rPr altLang="en-US" lang="en-US">
                <a:sym typeface="Symbol" pitchFamily="18" charset="2"/>
              </a:rPr>
              <a:t> FIFO</a:t>
            </a:r>
          </a:p>
          <a:p>
            <a:pPr lvl="1"/>
            <a:r>
              <a:rPr altLang="en-US" i="1" lang="en-US">
                <a:sym typeface="Symbol" pitchFamily="18" charset="2"/>
              </a:rPr>
              <a:t>q </a:t>
            </a:r>
            <a:r>
              <a:rPr altLang="en-US" lang="en-US">
                <a:sym typeface="Symbol" pitchFamily="18" charset="2"/>
              </a:rPr>
              <a:t>small  </a:t>
            </a:r>
            <a:r>
              <a:rPr altLang="en-US" i="1" lang="en-US">
                <a:sym typeface="Symbol" pitchFamily="18" charset="2"/>
              </a:rPr>
              <a:t>q </a:t>
            </a:r>
            <a:r>
              <a:rPr altLang="en-US" lang="en-US">
                <a:sym typeface="Symbol" pitchFamily="18" charset="2"/>
              </a:rPr>
              <a:t>must be large with respect to context switch, otherwise overhead is too high</a:t>
            </a:r>
          </a:p>
        </p:txBody>
      </p:sp>
    </p:spTree>
  </p:cSld>
  <p:clrMapOvr>
    <a:masterClrMapping/>
  </p:clrMapOvr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3" name="Rectangle 2"/>
          <p:cNvSpPr/>
          <p:nvPr>
            <p:ph type="title" sz="full" idx="0"/>
          </p:nvPr>
        </p:nvSpPr>
        <p:spPr>
          <a:xfrm rot="0">
            <a:off x="1358900" y="139700"/>
            <a:ext cx="7750175" cy="6477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Example of RR with Time Quantum = 4</a:t>
            </a:r>
          </a:p>
        </p:txBody>
      </p:sp>
      <p:sp>
        <p:nvSpPr>
          <p:cNvPr id="1048694" name="Rectangle 3"/>
          <p:cNvSpPr/>
          <p:nvPr>
            <p:ph type="body" sz="full" idx="1"/>
          </p:nvPr>
        </p:nvSpPr>
        <p:spPr>
          <a:xfrm rot="0">
            <a:off x="954087" y="1193800"/>
            <a:ext cx="7351712" cy="44831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>
              <a:lnSpc>
                <a:spcPct val="90000"/>
              </a:lnSpc>
              <a:buNone/>
              <a:tabLst>
                <a:tab algn="ctr" pos="2219325"/>
                <a:tab algn="ctr" pos="3994150"/>
              </a:tabLst>
            </a:pPr>
            <a:r>
              <a:rPr altLang="en-US" lang="en-US"/>
              <a:t>		</a:t>
            </a:r>
            <a:r>
              <a:rPr altLang="en-US" lang="en-US" u="sng"/>
              <a:t>Process</a:t>
            </a:r>
            <a:r>
              <a:rPr altLang="en-US" lang="en-US"/>
              <a:t>	</a:t>
            </a:r>
            <a:r>
              <a:rPr altLang="en-US" lang="en-US" u="sng"/>
              <a:t>Burst Time</a:t>
            </a:r>
          </a:p>
          <a:p>
            <a:pPr lvl="0">
              <a:lnSpc>
                <a:spcPct val="90000"/>
              </a:lnSpc>
              <a:buNone/>
              <a:tabLst>
                <a:tab algn="ctr" pos="2219325"/>
                <a:tab algn="ctr" pos="3994150"/>
              </a:tabLst>
            </a:pPr>
            <a:r>
              <a:rPr altLang="en-US" i="1" lang="en-US"/>
              <a:t>		P</a:t>
            </a:r>
            <a:r>
              <a:rPr altLang="en-US" baseline="-25000" i="1" lang="en-US"/>
              <a:t>1	</a:t>
            </a:r>
            <a:r>
              <a:rPr altLang="en-US" lang="en-US"/>
              <a:t>24</a:t>
            </a:r>
          </a:p>
          <a:p>
            <a:pPr lvl="0">
              <a:lnSpc>
                <a:spcPct val="90000"/>
              </a:lnSpc>
              <a:buNone/>
              <a:tabLst>
                <a:tab algn="ctr" pos="2219325"/>
                <a:tab algn="ctr" pos="3994150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2	 </a:t>
            </a:r>
            <a:r>
              <a:rPr altLang="en-US" lang="en-US"/>
              <a:t>3</a:t>
            </a:r>
          </a:p>
          <a:p>
            <a:pPr lvl="0">
              <a:lnSpc>
                <a:spcPct val="90000"/>
              </a:lnSpc>
              <a:buNone/>
              <a:tabLst>
                <a:tab algn="ctr" pos="2219325"/>
                <a:tab algn="ctr" pos="3994150"/>
              </a:tabLst>
            </a:pPr>
            <a:r>
              <a:rPr altLang="en-US" lang="en-US"/>
              <a:t>		 </a:t>
            </a:r>
            <a:r>
              <a:rPr altLang="en-US" i="1" lang="en-US"/>
              <a:t>P</a:t>
            </a:r>
            <a:r>
              <a:rPr altLang="en-US" baseline="-25000" i="1" lang="en-US"/>
              <a:t>3	</a:t>
            </a:r>
            <a:r>
              <a:rPr altLang="en-US" lang="en-US"/>
              <a:t>3	</a:t>
            </a:r>
          </a:p>
          <a:p>
            <a:pPr lvl="0">
              <a:lnSpc>
                <a:spcPct val="90000"/>
              </a:lnSpc>
            </a:pPr>
            <a:r>
              <a:rPr altLang="en-US" lang="en-US"/>
              <a:t>The Gantt chart is: </a:t>
            </a:r>
            <a:br>
              <a:rPr altLang="en-US" lang="en-US"/>
            </a:br>
            <a:br>
              <a:rPr altLang="en-US" lang="en-US"/>
            </a:br>
            <a:br>
              <a:rPr altLang="en-US" lang="en-US"/>
            </a:br>
            <a:br>
              <a:rPr altLang="en-US" lang="en-US"/>
            </a:br>
            <a:br>
              <a:rPr altLang="en-US" lang="en-US"/>
            </a:br>
            <a:br>
              <a:rPr altLang="en-US" lang="en-US"/>
            </a:br>
            <a:endParaRPr altLang="en-US" lang="en-US"/>
          </a:p>
          <a:p>
            <a:pPr lvl="0">
              <a:lnSpc>
                <a:spcPct val="90000"/>
              </a:lnSpc>
            </a:pPr>
            <a:r>
              <a:rPr altLang="en-US" lang="en-US"/>
              <a:t>Typically, higher average turnaround than SJF, but better </a:t>
            </a:r>
            <a:r>
              <a:rPr altLang="en-US" b="1" i="1" lang="en-US"/>
              <a:t>response</a:t>
            </a:r>
          </a:p>
          <a:p>
            <a:pPr lvl="0">
              <a:lnSpc>
                <a:spcPct val="90000"/>
              </a:lnSpc>
            </a:pPr>
            <a:r>
              <a:rPr altLang="en-US" lang="en-US"/>
              <a:t>q should be large compared to context switch time</a:t>
            </a:r>
          </a:p>
          <a:p>
            <a:pPr lvl="0">
              <a:lnSpc>
                <a:spcPct val="90000"/>
              </a:lnSpc>
            </a:pPr>
            <a:r>
              <a:rPr altLang="en-US" lang="en-US"/>
              <a:t>q usually 10ms to 100ms, context switch &lt; 10 usec</a:t>
            </a:r>
          </a:p>
        </p:txBody>
      </p:sp>
      <p:pic>
        <p:nvPicPr>
          <p:cNvPr id="2097165" name="Picture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398587" y="3227387"/>
            <a:ext cx="6770687" cy="7889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5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8" name="Rectangle 2"/>
          <p:cNvSpPr/>
          <p:nvPr>
            <p:ph type="title" sz="full" idx="0"/>
          </p:nvPr>
        </p:nvSpPr>
        <p:spPr>
          <a:xfrm rot="0">
            <a:off x="1063625" y="182562"/>
            <a:ext cx="7829550" cy="5254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sz="2800" lang="en-US"/>
              <a:t>Time Quantum and Context Switch Time</a:t>
            </a:r>
          </a:p>
        </p:txBody>
      </p:sp>
      <p:pic>
        <p:nvPicPr>
          <p:cNvPr id="2097166" name="Picture 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371600" y="1449387"/>
            <a:ext cx="6527800" cy="29035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2" name="Rectangle 2"/>
          <p:cNvSpPr/>
          <p:nvPr>
            <p:ph type="title" sz="full" idx="0"/>
          </p:nvPr>
        </p:nvSpPr>
        <p:spPr>
          <a:xfrm rot="0">
            <a:off x="830262" y="266700"/>
            <a:ext cx="8535988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sz="2400" lang="en-US"/>
              <a:t>Turnaround Time Varies With The Time Quantum</a:t>
            </a:r>
          </a:p>
        </p:txBody>
      </p:sp>
      <p:pic>
        <p:nvPicPr>
          <p:cNvPr id="2097167" name="Picture 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084387" y="1379537"/>
            <a:ext cx="5005387" cy="4122737"/>
          </a:xfrm>
          <a:prstGeom prst="rect"/>
          <a:noFill/>
          <a:ln>
            <a:noFill/>
          </a:ln>
        </p:spPr>
      </p:pic>
      <p:sp>
        <p:nvSpPr>
          <p:cNvPr id="1048703" name="TextBox 3"/>
          <p:cNvSpPr txBox="1"/>
          <p:nvPr/>
        </p:nvSpPr>
        <p:spPr>
          <a:xfrm rot="0">
            <a:off x="5937250" y="3744912"/>
            <a:ext cx="2312987" cy="492125"/>
          </a:xfrm>
          <a:prstGeom prst="rect"/>
          <a:noFill/>
          <a:ln>
            <a:noFill/>
          </a:ln>
        </p:spPr>
        <p:txBody>
          <a:bodyPr anchor="t" bIns="45709" lIns="91417" rIns="91417" tIns="45709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Verdana" pitchFamily="3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sz="1300" lang="en-US"/>
              <a:t>80% of CPU bursts should be shorter than q</a:t>
            </a:r>
          </a:p>
        </p:txBody>
      </p:sp>
    </p:spTree>
  </p:cSld>
  <p:clrMapOvr>
    <a:masterClrMapping/>
  </p:clrMapOvr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7" name="Rectangle 2"/>
          <p:cNvSpPr/>
          <p:nvPr>
            <p:ph type="title" sz="full" idx="0"/>
          </p:nvPr>
        </p:nvSpPr>
        <p:spPr>
          <a:xfrm rot="0">
            <a:off x="973137" y="153987"/>
            <a:ext cx="7713662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Multilevel Queue</a:t>
            </a:r>
          </a:p>
        </p:txBody>
      </p:sp>
      <p:sp>
        <p:nvSpPr>
          <p:cNvPr id="1048708" name="Rectangle 3"/>
          <p:cNvSpPr/>
          <p:nvPr>
            <p:ph type="body" sz="full" idx="1"/>
          </p:nvPr>
        </p:nvSpPr>
        <p:spPr>
          <a:xfrm rot="0">
            <a:off x="844550" y="1068387"/>
            <a:ext cx="7537450" cy="52212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Ready queue is partitioned into separate queues, eg:</a:t>
            </a:r>
          </a:p>
          <a:p>
            <a:pPr lvl="1"/>
            <a:r>
              <a:rPr altLang="en-US" b="1" lang="en-US">
                <a:solidFill>
                  <a:srgbClr val="3366FF"/>
                </a:solidFill>
              </a:rPr>
              <a:t>foreground</a:t>
            </a:r>
            <a:r>
              <a:rPr altLang="en-US" lang="en-US"/>
              <a:t> (interactive)</a:t>
            </a:r>
          </a:p>
          <a:p>
            <a:pPr lvl="1"/>
            <a:r>
              <a:rPr altLang="en-US" b="1" lang="en-US">
                <a:solidFill>
                  <a:srgbClr val="3366FF"/>
                </a:solidFill>
              </a:rPr>
              <a:t>background</a:t>
            </a:r>
            <a:r>
              <a:rPr altLang="en-US" lang="en-US"/>
              <a:t> (batch)</a:t>
            </a:r>
          </a:p>
          <a:p>
            <a:pPr lvl="0"/>
            <a:r>
              <a:rPr altLang="en-US" lang="en-US"/>
              <a:t>Process permanently in a given queue</a:t>
            </a:r>
          </a:p>
          <a:p>
            <a:pPr lvl="0"/>
            <a:r>
              <a:rPr altLang="en-US" lang="en-US"/>
              <a:t>Each queue has its own scheduling algorithm:</a:t>
            </a:r>
          </a:p>
          <a:p>
            <a:pPr lvl="1"/>
            <a:r>
              <a:rPr altLang="en-US" lang="en-US"/>
              <a:t>foreground – RR</a:t>
            </a:r>
          </a:p>
          <a:p>
            <a:pPr lvl="1"/>
            <a:r>
              <a:rPr altLang="en-US" lang="en-US"/>
              <a:t>background – FCFS</a:t>
            </a:r>
          </a:p>
          <a:p>
            <a:pPr lvl="0"/>
            <a:r>
              <a:rPr altLang="en-US" lang="en-US"/>
              <a:t>Scheduling must be done between the queues:</a:t>
            </a:r>
          </a:p>
          <a:p>
            <a:pPr lvl="1"/>
            <a:r>
              <a:rPr altLang="en-US" lang="en-US"/>
              <a:t>Fixed priority scheduling; (i.e., serve all from foreground then from background).  Possibility of starvation.</a:t>
            </a:r>
          </a:p>
          <a:p>
            <a:pPr lvl="1"/>
            <a:r>
              <a:rPr altLang="en-US" lang="en-US"/>
              <a:t>Time slice – each queue gets a certain amount of CPU time which it can schedule amongst its processes; i.e., 80% to foreground in RR</a:t>
            </a:r>
          </a:p>
          <a:p>
            <a:pPr lvl="1"/>
            <a:r>
              <a:rPr altLang="en-US" lang="en-US"/>
              <a:t>20% to background in FCFS </a:t>
            </a:r>
          </a:p>
        </p:txBody>
      </p:sp>
    </p:spTree>
  </p:cSld>
  <p:clrMapOvr>
    <a:masterClrMapping/>
  </p:clrMapOvr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5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2" name="Rectangle 2"/>
          <p:cNvSpPr/>
          <p:nvPr>
            <p:ph type="title" sz="full" idx="0"/>
          </p:nvPr>
        </p:nvSpPr>
        <p:spPr>
          <a:xfrm rot="0">
            <a:off x="1090612" y="188912"/>
            <a:ext cx="7596187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Multilevel Queue Scheduling</a:t>
            </a:r>
          </a:p>
        </p:txBody>
      </p:sp>
      <p:pic>
        <p:nvPicPr>
          <p:cNvPr id="2097168" name="Picture 4" descr="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270000" y="1466850"/>
            <a:ext cx="6686550" cy="44259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6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6" name="Rectangle 2"/>
          <p:cNvSpPr/>
          <p:nvPr>
            <p:ph type="title" sz="full" idx="0"/>
          </p:nvPr>
        </p:nvSpPr>
        <p:spPr>
          <a:xfrm rot="0">
            <a:off x="660400" y="239712"/>
            <a:ext cx="8026400" cy="57626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Multilevel Feedback Queue</a:t>
            </a:r>
          </a:p>
        </p:txBody>
      </p:sp>
      <p:sp>
        <p:nvSpPr>
          <p:cNvPr id="1048717" name="Rectangle 3"/>
          <p:cNvSpPr/>
          <p:nvPr>
            <p:ph type="body" sz="full" idx="1"/>
          </p:nvPr>
        </p:nvSpPr>
        <p:spPr>
          <a:xfrm rot="0">
            <a:off x="979487" y="1468437"/>
            <a:ext cx="7351712" cy="44831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A process can move between the various queues; aging can be implemented this way</a:t>
            </a:r>
          </a:p>
          <a:p>
            <a:pPr lvl="0"/>
            <a:r>
              <a:rPr altLang="en-US" lang="en-US"/>
              <a:t>Multilevel-feedback-queue scheduler defined by the following parameters:</a:t>
            </a:r>
          </a:p>
          <a:p>
            <a:pPr lvl="1"/>
            <a:r>
              <a:rPr altLang="en-US" lang="en-US"/>
              <a:t>number of queues</a:t>
            </a:r>
          </a:p>
          <a:p>
            <a:pPr lvl="1"/>
            <a:r>
              <a:rPr altLang="en-US" lang="en-US"/>
              <a:t>scheduling algorithms for each queue</a:t>
            </a:r>
          </a:p>
          <a:p>
            <a:pPr lvl="1"/>
            <a:r>
              <a:rPr altLang="en-US" lang="en-US"/>
              <a:t>method used to determine when to upgrade a process</a:t>
            </a:r>
          </a:p>
          <a:p>
            <a:pPr lvl="1"/>
            <a:r>
              <a:rPr altLang="en-US" lang="en-US"/>
              <a:t>method used to determine when to demote a process</a:t>
            </a:r>
          </a:p>
          <a:p>
            <a:pPr lvl="1"/>
            <a:r>
              <a:rPr altLang="en-US" lang="en-US"/>
              <a:t>method used to determine which queue a process will enter when that process needs service</a:t>
            </a:r>
          </a:p>
        </p:txBody>
      </p:sp>
    </p:spTree>
  </p:cSld>
  <p:clrMapOvr>
    <a:masterClrMapping/>
  </p:clrMapOvr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1" name="Rectangle 2"/>
          <p:cNvSpPr/>
          <p:nvPr>
            <p:ph type="title" sz="full" idx="0"/>
          </p:nvPr>
        </p:nvSpPr>
        <p:spPr>
          <a:xfrm rot="0">
            <a:off x="1371600" y="50800"/>
            <a:ext cx="7710487" cy="67945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1" sz="3200" i="0" u="none">
                <a:solidFill>
                  <a:srgbClr val="006699"/>
                </a:solidFill>
                <a:latin typeface="Arial" pitchFamily="34" charset="0"/>
                <a:ea typeface="MS PGothic" pitchFamily="34" charset="-128"/>
                <a:sym typeface="Verdana" pitchFamily="34" charset="0"/>
              </a:defRPr>
            </a:lvl1pPr>
          </a:lstStyle>
          <a:p>
            <a:pPr eaLnBrk="1" hangingPunct="1" lvl="0"/>
            <a:r>
              <a:rPr altLang="en-US" lang="en-US"/>
              <a:t>Example of Multilevel Feedback Queue</a:t>
            </a:r>
          </a:p>
        </p:txBody>
      </p:sp>
      <p:sp>
        <p:nvSpPr>
          <p:cNvPr id="1048722" name="Rectangle 3"/>
          <p:cNvSpPr/>
          <p:nvPr>
            <p:ph type="body" sz="full" idx="1"/>
          </p:nvPr>
        </p:nvSpPr>
        <p:spPr>
          <a:xfrm rot="0">
            <a:off x="806450" y="1233487"/>
            <a:ext cx="4065587" cy="45307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2pPr>
            <a:lvl3pPr algn="l" eaLnBrk="0" fontAlgn="base" hangingPunct="0" indent="-228600" latinLnBrk="0" marL="10858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3pPr>
            <a:lvl4pPr algn="l" eaLnBrk="0" fontAlgn="base" hangingPunct="0" indent="-228600" latinLnBrk="0" marL="14287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Tx/>
              <a:buChar char="–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4pPr>
            <a:lvl5pPr algn="l" eaLnBrk="0" fontAlgn="base" hangingPunct="0" indent="-228600" latinLnBrk="0" marL="1771650" rtl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Tx/>
              <a:buChar char="»"/>
              <a:defRPr baseline="0" b="0" sz="1800" i="0" u="none">
                <a:solidFill>
                  <a:schemeClr val="dk1"/>
                </a:solidFill>
                <a:latin typeface="Helvetica" pitchFamily="-84" charset="0"/>
                <a:ea typeface="MS PGothic" pitchFamily="34" charset="-128"/>
                <a:sym typeface="Verdana" pitchFamily="34" charset="0"/>
              </a:defRPr>
            </a:lvl5pPr>
          </a:lstStyle>
          <a:p>
            <a:pPr lvl="0"/>
            <a:r>
              <a:rPr altLang="en-US" lang="en-US"/>
              <a:t>Three queues: </a:t>
            </a:r>
          </a:p>
          <a:p>
            <a:pPr lvl="1"/>
            <a:r>
              <a:rPr altLang="en-US" sz="1400" i="1" lang="en-US"/>
              <a:t>Q</a:t>
            </a:r>
            <a:r>
              <a:rPr altLang="en-US" baseline="-25000" sz="1400" lang="en-US"/>
              <a:t>0</a:t>
            </a:r>
            <a:r>
              <a:rPr altLang="en-US" sz="1400" lang="en-US"/>
              <a:t> – RR with time quantum 8 milliseconds</a:t>
            </a:r>
          </a:p>
          <a:p>
            <a:pPr lvl="1"/>
            <a:r>
              <a:rPr altLang="en-US" sz="1400" i="1" lang="en-US"/>
              <a:t>Q</a:t>
            </a:r>
            <a:r>
              <a:rPr altLang="en-US" baseline="-25000" sz="1400" lang="en-US"/>
              <a:t>1</a:t>
            </a:r>
            <a:r>
              <a:rPr altLang="en-US" sz="1400" lang="en-US"/>
              <a:t> – RR time quantum 16 milliseconds</a:t>
            </a:r>
          </a:p>
          <a:p>
            <a:pPr lvl="1"/>
            <a:r>
              <a:rPr altLang="en-US" sz="1400" i="1" lang="en-US"/>
              <a:t>Q</a:t>
            </a:r>
            <a:r>
              <a:rPr altLang="en-US" baseline="-25000" sz="1400" lang="en-US"/>
              <a:t>2</a:t>
            </a:r>
            <a:r>
              <a:rPr altLang="en-US" sz="1400" lang="en-US"/>
              <a:t> – FCFS</a:t>
            </a:r>
          </a:p>
          <a:p>
            <a:pPr lvl="1"/>
            <a:endParaRPr altLang="en-US" sz="1400" lang="en-US"/>
          </a:p>
          <a:p>
            <a:pPr lvl="0"/>
            <a:r>
              <a:rPr altLang="en-US" lang="en-US"/>
              <a:t>Scheduling</a:t>
            </a:r>
          </a:p>
          <a:p>
            <a:pPr lvl="1"/>
            <a:r>
              <a:rPr altLang="en-US" sz="1400" lang="en-US"/>
              <a:t>A new job enters queue </a:t>
            </a:r>
            <a:r>
              <a:rPr altLang="en-US" sz="1400" i="1" lang="en-US"/>
              <a:t>Q</a:t>
            </a:r>
            <a:r>
              <a:rPr altLang="en-US" baseline="-25000" sz="1400" i="1" lang="en-US"/>
              <a:t>0</a:t>
            </a:r>
            <a:r>
              <a:rPr altLang="en-US" sz="1400" i="1" lang="en-US"/>
              <a:t> </a:t>
            </a:r>
            <a:r>
              <a:rPr altLang="en-US" sz="1400" lang="en-US"/>
              <a:t>which is served</a:t>
            </a:r>
            <a:r>
              <a:rPr altLang="en-US" sz="1400" i="1" lang="en-US"/>
              <a:t> </a:t>
            </a:r>
            <a:r>
              <a:rPr altLang="en-US" sz="1400" lang="en-US"/>
              <a:t>FCFS</a:t>
            </a:r>
          </a:p>
          <a:p>
            <a:pPr lvl="2"/>
            <a:r>
              <a:rPr altLang="en-US" sz="1400" lang="en-US"/>
              <a:t>When it gains CPU, job receives 8 milliseconds</a:t>
            </a:r>
          </a:p>
          <a:p>
            <a:pPr lvl="2"/>
            <a:r>
              <a:rPr altLang="en-US" sz="1400" lang="en-US"/>
              <a:t>If it does not finish in 8 milliseconds, job is moved to queue </a:t>
            </a:r>
            <a:r>
              <a:rPr altLang="en-US" sz="1400" i="1" lang="en-US"/>
              <a:t>Q</a:t>
            </a:r>
            <a:r>
              <a:rPr altLang="en-US" baseline="-25000" sz="1400" lang="en-US"/>
              <a:t>1</a:t>
            </a:r>
          </a:p>
          <a:p>
            <a:pPr lvl="1"/>
            <a:r>
              <a:rPr altLang="en-US" sz="1400" lang="en-US"/>
              <a:t>At </a:t>
            </a:r>
            <a:r>
              <a:rPr altLang="en-US" sz="1400" i="1" lang="en-US"/>
              <a:t>Q</a:t>
            </a:r>
            <a:r>
              <a:rPr altLang="en-US" baseline="-25000" sz="1400" lang="en-US"/>
              <a:t>1</a:t>
            </a:r>
            <a:r>
              <a:rPr altLang="en-US" sz="1400" lang="en-US"/>
              <a:t> job is again served FCFS and receives 16 additional milliseconds</a:t>
            </a:r>
          </a:p>
          <a:p>
            <a:pPr lvl="2"/>
            <a:r>
              <a:rPr altLang="en-US" sz="1400" lang="en-US"/>
              <a:t>If it still does not complete, it is preempted and moved to queue </a:t>
            </a:r>
            <a:r>
              <a:rPr altLang="en-US" sz="1400" i="1" lang="en-US"/>
              <a:t>Q</a:t>
            </a:r>
            <a:r>
              <a:rPr altLang="en-US" baseline="-25000" sz="1400" lang="en-US"/>
              <a:t>2</a:t>
            </a:r>
          </a:p>
        </p:txBody>
      </p:sp>
      <p:pic>
        <p:nvPicPr>
          <p:cNvPr id="2097169" name="Picture 4" descr="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972050" y="2159000"/>
            <a:ext cx="3862387" cy="25749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666600"/>
      </a:dk2>
      <a:lt2>
        <a:srgbClr val="9999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7B75B"/>
      </a:accent6>
      <a:hlink>
        <a:srgbClr val="FFCC00"/>
      </a:hlink>
      <a:folHlink>
        <a:srgbClr val="CC99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FFFFFF"/>
        </a:dk1>
        <a:lt1>
          <a:srgbClr val="000000"/>
        </a:lt1>
        <a:dk2>
          <a:srgbClr val="006699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CDCDC"/>
        </a:accent4>
        <a:accent5>
          <a:srgbClr val="AAE2CA"/>
        </a:accent5>
        <a:accent6>
          <a:srgbClr val="008989"/>
        </a:accent6>
        <a:hlink>
          <a:srgbClr val="0066FF"/>
        </a:hlink>
        <a:folHlink>
          <a:srgbClr val="989CBA"/>
        </a:folHlink>
      </a:clrScheme>
    </a:extraClrScheme>
    <a:extraClrScheme>
      <a:clrScheme name="Default Color Scheme 2">
        <a:dk1>
          <a:srgbClr val="FFFFFF"/>
        </a:dk1>
        <a:lt1>
          <a:srgbClr val="5C271E"/>
        </a:lt1>
        <a:dk2>
          <a:srgbClr val="808000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6ABAA"/>
        </a:accent3>
        <a:accent4>
          <a:srgbClr val="DCDCDC"/>
        </a:accent4>
        <a:accent5>
          <a:srgbClr val="E2B9AA"/>
        </a:accent5>
        <a:accent6>
          <a:srgbClr val="B78900"/>
        </a:accent6>
        <a:hlink>
          <a:srgbClr val="669900"/>
        </a:hlink>
        <a:folHlink>
          <a:srgbClr val="A3A274"/>
        </a:folHlink>
      </a:clrScheme>
    </a:extraClrScheme>
    <a:extraClrScheme>
      <a:clrScheme name="Default Color Scheme 3">
        <a:dk1>
          <a:srgbClr val="FFFFFF"/>
        </a:dk1>
        <a:lt1>
          <a:srgbClr val="330000"/>
        </a:lt1>
        <a:dk2>
          <a:srgbClr val="763B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CDCDC"/>
        </a:accent4>
        <a:accent5>
          <a:srgbClr val="FFE2AA"/>
        </a:accent5>
        <a:accent6>
          <a:srgbClr val="B72D00"/>
        </a:accent6>
        <a:hlink>
          <a:srgbClr val="666699"/>
        </a:hlink>
        <a:folHlink>
          <a:srgbClr val="999966"/>
        </a:folHlink>
      </a:clrScheme>
    </a:extraClrScheme>
    <a:extraClrScheme>
      <a:clrScheme name="Default Color Scheme 4">
        <a:dk1>
          <a:srgbClr val="FFFFFF"/>
        </a:dk1>
        <a:lt1>
          <a:srgbClr val="51255D"/>
        </a:lt1>
        <a:dk2>
          <a:srgbClr val="6D3696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BB6"/>
        </a:accent3>
        <a:accent4>
          <a:srgbClr val="DCDCDC"/>
        </a:accent4>
        <a:accent5>
          <a:srgbClr val="B9B9CA"/>
        </a:accent5>
        <a:accent6>
          <a:srgbClr val="720072"/>
        </a:accent6>
        <a:hlink>
          <a:srgbClr val="CCCC00"/>
        </a:hlink>
        <a:folHlink>
          <a:srgbClr val="A3A274"/>
        </a:folHlink>
      </a:clrScheme>
    </a:extraClrScheme>
    <a:extraClrScheme>
      <a:clrScheme name="Default Color Scheme 5">
        <a:dk1>
          <a:srgbClr val="FFFFFF"/>
        </a:dk1>
        <a:lt1>
          <a:srgbClr val="4A553B"/>
        </a:lt1>
        <a:dk2>
          <a:srgbClr val="CC6600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2B4AF"/>
        </a:accent3>
        <a:accent4>
          <a:srgbClr val="DCDCDC"/>
        </a:accent4>
        <a:accent5>
          <a:srgbClr val="FFE2AA"/>
        </a:accent5>
        <a:accent6>
          <a:srgbClr val="B78900"/>
        </a:accent6>
        <a:hlink>
          <a:srgbClr val="669900"/>
        </a:hlink>
        <a:folHlink>
          <a:srgbClr val="A3A274"/>
        </a:folHlink>
      </a:clrScheme>
    </a:extraClrScheme>
    <a:extraClrScheme>
      <a:clrScheme name="Default Color Scheme 6">
        <a:dk1>
          <a:srgbClr val="000000"/>
        </a:dk1>
        <a:lt1>
          <a:srgbClr val="FFFFFF"/>
        </a:lt1>
        <a:dk2>
          <a:srgbClr val="FFCC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50000"/>
        </a:accent6>
        <a:hlink>
          <a:srgbClr val="666699"/>
        </a:hlink>
        <a:folHlink>
          <a:srgbClr val="999966"/>
        </a:folHlink>
      </a:clrScheme>
    </a:extraClrScheme>
    <a:extraClrScheme>
      <a:clrScheme name="Default Color Scheme 7">
        <a:dk1>
          <a:srgbClr val="000000"/>
        </a:dk1>
        <a:lt1>
          <a:srgbClr val="FFFFFF"/>
        </a:lt1>
        <a:dk2>
          <a:srgbClr val="6633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75B00"/>
        </a:accent6>
        <a:hlink>
          <a:srgbClr val="CC9900"/>
        </a:hlink>
        <a:folHlink>
          <a:srgbClr val="996633"/>
        </a:folHlink>
      </a:clrScheme>
    </a:extraClrScheme>
    <a:extraClrScheme>
      <a:clrScheme name="Default Color Scheme 8">
        <a:dk1>
          <a:srgbClr val="000000"/>
        </a:dk1>
        <a:lt1>
          <a:srgbClr val="FFFFFF"/>
        </a:lt1>
        <a:dk2>
          <a:srgbClr val="666600"/>
        </a:dk2>
        <a:lt2>
          <a:srgbClr val="9999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7B75B"/>
        </a:accent6>
        <a:hlink>
          <a:srgbClr val="FFCC00"/>
        </a:hlink>
        <a:folHlink>
          <a:srgbClr val="CC990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2.01</dc:title>
  <dc:creator>Lucent End User</dc:creator>
  <cp:lastModifiedBy>Silberschatz, Avi</cp:lastModifiedBy>
  <dcterms:created xsi:type="dcterms:W3CDTF">2011-01-13T18:43:38Z</dcterms:created>
  <dcterms:modified xsi:type="dcterms:W3CDTF">2026-02-24T08:17:48Z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d02bdac71e104ce180093ef18598471b</vt:lpwstr>
  </property>
</Properties>
</file>